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4BE34-1FF4-4344-92B7-F67FAB854D5A}"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DDCC32-1BC4-48F0-BE9C-B32DA2B32454}" type="slidenum">
              <a:rPr lang="en-IN" smtClean="0"/>
              <a:t>‹#›</a:t>
            </a:fld>
            <a:endParaRPr lang="en-IN"/>
          </a:p>
        </p:txBody>
      </p:sp>
    </p:spTree>
    <p:extLst>
      <p:ext uri="{BB962C8B-B14F-4D97-AF65-F5344CB8AC3E}">
        <p14:creationId xmlns:p14="http://schemas.microsoft.com/office/powerpoint/2010/main" val="1512837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4DDCC32-1BC4-48F0-BE9C-B32DA2B32454}" type="slidenum">
              <a:rPr lang="en-IN" smtClean="0"/>
              <a:t>7</a:t>
            </a:fld>
            <a:endParaRPr lang="en-IN"/>
          </a:p>
        </p:txBody>
      </p:sp>
    </p:spTree>
    <p:extLst>
      <p:ext uri="{BB962C8B-B14F-4D97-AF65-F5344CB8AC3E}">
        <p14:creationId xmlns:p14="http://schemas.microsoft.com/office/powerpoint/2010/main" val="2389574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D73BF49-ABEA-4E83-99ED-BC0B7BE47B1A}"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DD589-A4E5-4B4E-B879-367FE2295E4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423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73BF49-ABEA-4E83-99ED-BC0B7BE47B1A}"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3038410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73BF49-ABEA-4E83-99ED-BC0B7BE47B1A}"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DD589-A4E5-4B4E-B879-367FE2295E4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068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73BF49-ABEA-4E83-99ED-BC0B7BE47B1A}"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1151080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73BF49-ABEA-4E83-99ED-BC0B7BE47B1A}" type="datetimeFigureOut">
              <a:rPr lang="en-IN" smtClean="0"/>
              <a:t>26-02-2026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3685285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73BF49-ABEA-4E83-99ED-BC0B7BE47B1A}" type="datetimeFigureOut">
              <a:rPr lang="en-IN" smtClean="0"/>
              <a:t>26-02-2026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377690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73BF49-ABEA-4E83-99ED-BC0B7BE47B1A}" type="datetimeFigureOut">
              <a:rPr lang="en-IN" smtClean="0"/>
              <a:t>26-02-2026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1329241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D73BF49-ABEA-4E83-99ED-BC0B7BE47B1A}" type="datetimeFigureOut">
              <a:rPr lang="en-IN" smtClean="0"/>
              <a:t>26-02-2026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E0DD589-A4E5-4B4E-B879-367FE2295E49}" type="slidenum">
              <a:rPr lang="en-IN" smtClean="0"/>
              <a:t>‹#›</a:t>
            </a:fld>
            <a:endParaRPr lang="en-IN"/>
          </a:p>
        </p:txBody>
      </p:sp>
    </p:spTree>
    <p:extLst>
      <p:ext uri="{BB962C8B-B14F-4D97-AF65-F5344CB8AC3E}">
        <p14:creationId xmlns:p14="http://schemas.microsoft.com/office/powerpoint/2010/main" val="1526266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73BF49-ABEA-4E83-99ED-BC0B7BE47B1A}"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877173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73BF49-ABEA-4E83-99ED-BC0B7BE47B1A}"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1262879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73BF49-ABEA-4E83-99ED-BC0B7BE47B1A}"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E0DD589-A4E5-4B4E-B879-367FE2295E49}" type="slidenum">
              <a:rPr lang="en-IN" smtClean="0"/>
              <a:t>‹#›</a:t>
            </a:fld>
            <a:endParaRPr lang="en-IN"/>
          </a:p>
        </p:txBody>
      </p:sp>
    </p:spTree>
    <p:extLst>
      <p:ext uri="{BB962C8B-B14F-4D97-AF65-F5344CB8AC3E}">
        <p14:creationId xmlns:p14="http://schemas.microsoft.com/office/powerpoint/2010/main" val="3974935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4D73BF49-ABEA-4E83-99ED-BC0B7BE47B1A}" type="datetimeFigureOut">
              <a:rPr lang="en-IN" smtClean="0"/>
              <a:t>26-02-2026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E0DD589-A4E5-4B4E-B879-367FE2295E4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426820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B64CD-61C9-B041-14AC-9B4910F9335D}"/>
              </a:ext>
            </a:extLst>
          </p:cNvPr>
          <p:cNvSpPr>
            <a:spLocks noGrp="1"/>
          </p:cNvSpPr>
          <p:nvPr>
            <p:ph type="title"/>
          </p:nvPr>
        </p:nvSpPr>
        <p:spPr>
          <a:xfrm>
            <a:off x="824948" y="1679713"/>
            <a:ext cx="10247244" cy="2047460"/>
          </a:xfrm>
        </p:spPr>
        <p:txBody>
          <a:bodyPr>
            <a:normAutofit/>
          </a:bodyPr>
          <a:lstStyle/>
          <a:p>
            <a:r>
              <a:rPr lang="en-IN" dirty="0">
                <a:latin typeface="Times New Roman" panose="02020603050405020304" pitchFamily="18" charset="0"/>
                <a:cs typeface="Times New Roman" panose="02020603050405020304" pitchFamily="18" charset="0"/>
              </a:rPr>
              <a:t>CLOUD BURST IDENTIFICATION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AND WEATHER ANOMALY DETECTION</a:t>
            </a:r>
          </a:p>
        </p:txBody>
      </p:sp>
      <p:sp>
        <p:nvSpPr>
          <p:cNvPr id="4" name="Text Placeholder 3">
            <a:extLst>
              <a:ext uri="{FF2B5EF4-FFF2-40B4-BE49-F238E27FC236}">
                <a16:creationId xmlns:a16="http://schemas.microsoft.com/office/drawing/2014/main" id="{59356F3D-3C9D-866C-6B5C-A8A8C090BD16}"/>
              </a:ext>
            </a:extLst>
          </p:cNvPr>
          <p:cNvSpPr>
            <a:spLocks noGrp="1"/>
          </p:cNvSpPr>
          <p:nvPr>
            <p:ph sz="half" idx="1"/>
          </p:nvPr>
        </p:nvSpPr>
        <p:spPr>
          <a:xfrm>
            <a:off x="7533861" y="4492487"/>
            <a:ext cx="4194313" cy="1868556"/>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                     By</a:t>
            </a:r>
          </a:p>
          <a:p>
            <a:pPr marL="0" indent="0">
              <a:buNone/>
            </a:pPr>
            <a:r>
              <a:rPr lang="en-US" dirty="0">
                <a:latin typeface="Times New Roman" panose="02020603050405020304" pitchFamily="18" charset="0"/>
                <a:cs typeface="Times New Roman" panose="02020603050405020304" pitchFamily="18" charset="0"/>
              </a:rPr>
              <a:t>24B81A67H6 – R. Sri Harini                                </a:t>
            </a:r>
          </a:p>
          <a:p>
            <a:pPr marL="0" indent="0">
              <a:buNone/>
            </a:pPr>
            <a:r>
              <a:rPr lang="en-US" dirty="0">
                <a:latin typeface="Times New Roman" panose="02020603050405020304" pitchFamily="18" charset="0"/>
                <a:cs typeface="Times New Roman" panose="02020603050405020304" pitchFamily="18" charset="0"/>
              </a:rPr>
              <a:t>24B81A67J3 – V. Uday Durga</a:t>
            </a:r>
          </a:p>
          <a:p>
            <a:pPr marL="0" indent="0">
              <a:buNone/>
            </a:pPr>
            <a:r>
              <a:rPr lang="en-US" dirty="0">
                <a:latin typeface="Times New Roman" panose="02020603050405020304" pitchFamily="18" charset="0"/>
                <a:cs typeface="Times New Roman" panose="02020603050405020304" pitchFamily="18" charset="0"/>
              </a:rPr>
              <a:t>24B81A67J5 – P. Varshini</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57B67A2-2ADA-9E5D-160A-1D1F713397C4}"/>
              </a:ext>
            </a:extLst>
          </p:cNvPr>
          <p:cNvSpPr>
            <a:spLocks noGrp="1"/>
          </p:cNvSpPr>
          <p:nvPr>
            <p:ph sz="half" idx="2"/>
          </p:nvPr>
        </p:nvSpPr>
        <p:spPr>
          <a:xfrm>
            <a:off x="740466" y="4949686"/>
            <a:ext cx="5688496" cy="775253"/>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Project Supervisor : </a:t>
            </a:r>
            <a:r>
              <a:rPr lang="en-US" dirty="0" err="1">
                <a:latin typeface="Times New Roman" panose="02020603050405020304" pitchFamily="18" charset="0"/>
                <a:cs typeface="Times New Roman" panose="02020603050405020304" pitchFamily="18" charset="0"/>
              </a:rPr>
              <a:t>Dr.Yasmeen</a:t>
            </a:r>
            <a:r>
              <a:rPr lang="en-US" dirty="0">
                <a:latin typeface="Times New Roman" panose="02020603050405020304" pitchFamily="18" charset="0"/>
                <a:cs typeface="Times New Roman" panose="02020603050405020304" pitchFamily="18" charset="0"/>
              </a:rPr>
              <a:t> Mam</a:t>
            </a:r>
          </a:p>
        </p:txBody>
      </p:sp>
      <p:pic>
        <p:nvPicPr>
          <p:cNvPr id="1026" name="Picture 2">
            <a:extLst>
              <a:ext uri="{FF2B5EF4-FFF2-40B4-BE49-F238E27FC236}">
                <a16:creationId xmlns:a16="http://schemas.microsoft.com/office/drawing/2014/main" id="{231268A3-7211-1751-BB42-BE7978C806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44" t="6994" r="4568" b="13287"/>
          <a:stretch>
            <a:fillRect/>
          </a:stretch>
        </p:blipFill>
        <p:spPr bwMode="auto">
          <a:xfrm>
            <a:off x="740466" y="347868"/>
            <a:ext cx="5804452" cy="1133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1837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6089E-85D1-3413-0FBE-9841852C83D1}"/>
              </a:ext>
            </a:extLst>
          </p:cNvPr>
          <p:cNvSpPr>
            <a:spLocks noGrp="1"/>
          </p:cNvSpPr>
          <p:nvPr>
            <p:ph type="title"/>
          </p:nvPr>
        </p:nvSpPr>
        <p:spPr>
          <a:xfrm>
            <a:off x="707334" y="257106"/>
            <a:ext cx="10109753" cy="738118"/>
          </a:xfrm>
        </p:spPr>
        <p:txBody>
          <a:bodyPr/>
          <a:lstStyle/>
          <a:p>
            <a:r>
              <a:rPr lang="en-IN" dirty="0">
                <a:latin typeface="Times New Roman" panose="02020603050405020304" pitchFamily="18" charset="0"/>
                <a:cs typeface="Times New Roman" panose="02020603050405020304" pitchFamily="18" charset="0"/>
              </a:rPr>
              <a:t>ABSTRACT</a:t>
            </a:r>
          </a:p>
        </p:txBody>
      </p:sp>
      <p:sp>
        <p:nvSpPr>
          <p:cNvPr id="5" name="Content Placeholder 4">
            <a:extLst>
              <a:ext uri="{FF2B5EF4-FFF2-40B4-BE49-F238E27FC236}">
                <a16:creationId xmlns:a16="http://schemas.microsoft.com/office/drawing/2014/main" id="{DB4F31CF-5BA1-AE91-EDC3-A59C98B97B4B}"/>
              </a:ext>
            </a:extLst>
          </p:cNvPr>
          <p:cNvSpPr>
            <a:spLocks noGrp="1"/>
          </p:cNvSpPr>
          <p:nvPr>
            <p:ph idx="1"/>
          </p:nvPr>
        </p:nvSpPr>
        <p:spPr>
          <a:xfrm>
            <a:off x="1005508" y="1212574"/>
            <a:ext cx="10180983" cy="5019261"/>
          </a:xfrm>
        </p:spPr>
        <p:txBody>
          <a:bodyPr>
            <a:normAutofit lnSpcReduction="10000"/>
          </a:bodyPr>
          <a:lstStyle/>
          <a:p>
            <a:pPr marL="0" indent="0">
              <a:buNone/>
            </a:pPr>
            <a:r>
              <a:rPr lang="en-US" sz="2200" dirty="0">
                <a:latin typeface="Times New Roman" panose="02020603050405020304" pitchFamily="18" charset="0"/>
                <a:cs typeface="Times New Roman" panose="02020603050405020304" pitchFamily="18" charset="0"/>
              </a:rPr>
              <a:t>Extreme weather like cloud bursts is a huge problem lately. Our project, </a:t>
            </a:r>
            <a:r>
              <a:rPr lang="en-US" sz="2200" b="1" dirty="0">
                <a:latin typeface="Times New Roman" panose="02020603050405020304" pitchFamily="18" charset="0"/>
                <a:cs typeface="Times New Roman" panose="02020603050405020304" pitchFamily="18" charset="0"/>
              </a:rPr>
              <a:t>Cloud Burst Identification and Weather Anomaly Analysis</a:t>
            </a:r>
            <a:r>
              <a:rPr lang="en-US" sz="2200" dirty="0">
                <a:latin typeface="Times New Roman" panose="02020603050405020304" pitchFamily="18" charset="0"/>
                <a:cs typeface="Times New Roman" panose="02020603050405020304" pitchFamily="18" charset="0"/>
              </a:rPr>
              <a:t>, tracks these events using a data-driven approach instead of IoT sensors. We use Python and SQL to monitor rainfall, temperature, and humidity. If rainfall hits a specific threshold, the system flags it as a cloud burst. We’ve also added 7-day trend analysis, heatmaps, and an automatic PDF report generator. Our web dashboard even changes color based on alert levels to make monitoring simple and visual!</a:t>
            </a:r>
          </a:p>
          <a:p>
            <a:pPr marL="0" indent="0">
              <a:buNone/>
            </a:pPr>
            <a:r>
              <a:rPr lang="en-US" sz="2200" b="1" dirty="0">
                <a:latin typeface="Times New Roman" panose="02020603050405020304" pitchFamily="18" charset="0"/>
                <a:cs typeface="Times New Roman" panose="02020603050405020304" pitchFamily="18" charset="0"/>
              </a:rPr>
              <a:t>Keywords</a:t>
            </a:r>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Weather Anomaly:</a:t>
            </a:r>
            <a:r>
              <a:rPr lang="en-US" sz="2200" dirty="0">
                <a:latin typeface="Times New Roman" panose="02020603050405020304" pitchFamily="18" charset="0"/>
                <a:cs typeface="Times New Roman" panose="02020603050405020304" pitchFamily="18" charset="0"/>
              </a:rPr>
              <a:t> Detecting unusual climatic shifts.</a:t>
            </a:r>
          </a:p>
          <a:p>
            <a:r>
              <a:rPr lang="en-US" sz="2200" b="1" dirty="0">
                <a:latin typeface="Times New Roman" panose="02020603050405020304" pitchFamily="18" charset="0"/>
                <a:cs typeface="Times New Roman" panose="02020603050405020304" pitchFamily="18" charset="0"/>
              </a:rPr>
              <a:t>Threshold Identification:</a:t>
            </a:r>
            <a:r>
              <a:rPr lang="en-US" sz="2200" dirty="0">
                <a:latin typeface="Times New Roman" panose="02020603050405020304" pitchFamily="18" charset="0"/>
                <a:cs typeface="Times New Roman" panose="02020603050405020304" pitchFamily="18" charset="0"/>
              </a:rPr>
              <a:t> Spotting cloud bursts via rainfall limits.</a:t>
            </a:r>
          </a:p>
          <a:p>
            <a:r>
              <a:rPr lang="en-US" sz="2200" b="1" dirty="0">
                <a:latin typeface="Times New Roman" panose="02020603050405020304" pitchFamily="18" charset="0"/>
                <a:cs typeface="Times New Roman" panose="02020603050405020304" pitchFamily="18" charset="0"/>
              </a:rPr>
              <a:t>Data Analysis:</a:t>
            </a:r>
            <a:r>
              <a:rPr lang="en-US" sz="2200" dirty="0">
                <a:latin typeface="Times New Roman" panose="02020603050405020304" pitchFamily="18" charset="0"/>
                <a:cs typeface="Times New Roman" panose="02020603050405020304" pitchFamily="18" charset="0"/>
              </a:rPr>
              <a:t> Processing trends using Python &amp; SQL.</a:t>
            </a:r>
          </a:p>
          <a:p>
            <a:r>
              <a:rPr lang="en-US" sz="2200" b="1" dirty="0">
                <a:latin typeface="Times New Roman" panose="02020603050405020304" pitchFamily="18" charset="0"/>
                <a:cs typeface="Times New Roman" panose="02020603050405020304" pitchFamily="18" charset="0"/>
              </a:rPr>
              <a:t>Visualization:</a:t>
            </a:r>
            <a:r>
              <a:rPr lang="en-US" sz="2200" dirty="0">
                <a:latin typeface="Times New Roman" panose="02020603050405020304" pitchFamily="18" charset="0"/>
                <a:cs typeface="Times New Roman" panose="02020603050405020304" pitchFamily="18" charset="0"/>
              </a:rPr>
              <a:t> Heatmaps and automated PDF reporting.</a:t>
            </a:r>
          </a:p>
          <a:p>
            <a:r>
              <a:rPr lang="en-US" sz="2200" b="1" dirty="0">
                <a:latin typeface="Times New Roman" panose="02020603050405020304" pitchFamily="18" charset="0"/>
                <a:cs typeface="Times New Roman" panose="02020603050405020304" pitchFamily="18" charset="0"/>
              </a:rPr>
              <a:t>Risk Zoning:</a:t>
            </a:r>
            <a:r>
              <a:rPr lang="en-US" sz="2200" dirty="0">
                <a:latin typeface="Times New Roman" panose="02020603050405020304" pitchFamily="18" charset="0"/>
                <a:cs typeface="Times New Roman" panose="02020603050405020304" pitchFamily="18" charset="0"/>
              </a:rPr>
              <a:t> Mapping geographical weather risks.</a:t>
            </a:r>
          </a:p>
          <a:p>
            <a:endParaRPr lang="en-IN" dirty="0"/>
          </a:p>
        </p:txBody>
      </p:sp>
    </p:spTree>
    <p:extLst>
      <p:ext uri="{BB962C8B-B14F-4D97-AF65-F5344CB8AC3E}">
        <p14:creationId xmlns:p14="http://schemas.microsoft.com/office/powerpoint/2010/main" val="3869425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344F7E-84A9-E586-A140-3AA3F750A59A}"/>
              </a:ext>
            </a:extLst>
          </p:cNvPr>
          <p:cNvSpPr>
            <a:spLocks noGrp="1"/>
          </p:cNvSpPr>
          <p:nvPr>
            <p:ph type="title"/>
          </p:nvPr>
        </p:nvSpPr>
        <p:spPr>
          <a:xfrm>
            <a:off x="1133061" y="318052"/>
            <a:ext cx="10220740" cy="586410"/>
          </a:xfrm>
        </p:spPr>
        <p:txBody>
          <a:bodyPr>
            <a:normAutofit fontScale="90000"/>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13D802D-7E3B-61B1-61D9-EF11560DCE68}"/>
              </a:ext>
            </a:extLst>
          </p:cNvPr>
          <p:cNvSpPr>
            <a:spLocks noGrp="1"/>
          </p:cNvSpPr>
          <p:nvPr>
            <p:ph idx="1"/>
          </p:nvPr>
        </p:nvSpPr>
        <p:spPr>
          <a:xfrm>
            <a:off x="1361660" y="1997764"/>
            <a:ext cx="9992139" cy="3399184"/>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Our project, </a:t>
            </a:r>
            <a:r>
              <a:rPr lang="en-US" sz="2400" b="1" dirty="0">
                <a:latin typeface="Times New Roman" panose="02020603050405020304" pitchFamily="18" charset="0"/>
                <a:cs typeface="Times New Roman" panose="02020603050405020304" pitchFamily="18" charset="0"/>
              </a:rPr>
              <a:t>Cloud Burst Identification and Weather Anomaly Analysis</a:t>
            </a:r>
            <a:r>
              <a:rPr lang="en-US" sz="2400" dirty="0">
                <a:latin typeface="Times New Roman" panose="02020603050405020304" pitchFamily="18" charset="0"/>
                <a:cs typeface="Times New Roman" panose="02020603050405020304" pitchFamily="18" charset="0"/>
              </a:rPr>
              <a:t>, monitors these events using a simple, data-driven approach. Instead of using expensive sensors or ML, we use Python and SQL to analyze rainfall, temperature, and humidity. By comparing real-time data against historical thresholds, the system detects anomalies instantly. </a:t>
            </a:r>
          </a:p>
          <a:p>
            <a:pPr marL="0" indent="0">
              <a:buNone/>
            </a:pPr>
            <a:r>
              <a:rPr lang="en-US" sz="2400" dirty="0">
                <a:latin typeface="Times New Roman" panose="02020603050405020304" pitchFamily="18" charset="0"/>
                <a:cs typeface="Times New Roman" panose="02020603050405020304" pitchFamily="18" charset="0"/>
              </a:rPr>
              <a:t>We also built a web dashboard with heatmaps and 7-day trends that changes color based on alert levels. It even generates daily PDF reports, making extreme weather tracking easy and accessible for everyone.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487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6F17FA-F8C5-087C-B132-46EBC85B21A7}"/>
              </a:ext>
            </a:extLst>
          </p:cNvPr>
          <p:cNvSpPr>
            <a:spLocks noGrp="1"/>
          </p:cNvSpPr>
          <p:nvPr>
            <p:ph type="title"/>
          </p:nvPr>
        </p:nvSpPr>
        <p:spPr>
          <a:xfrm>
            <a:off x="993914" y="437321"/>
            <a:ext cx="10012680" cy="924339"/>
          </a:xfrm>
        </p:spPr>
        <p:txBody>
          <a:bodyPr/>
          <a:lstStyle/>
          <a:p>
            <a:r>
              <a:rPr lang="en-IN" dirty="0">
                <a:latin typeface="Times New Roman" panose="02020603050405020304" pitchFamily="18" charset="0"/>
                <a:cs typeface="Times New Roman" panose="02020603050405020304" pitchFamily="18" charset="0"/>
              </a:rPr>
              <a:t>LITERATURE SURVEY</a:t>
            </a:r>
          </a:p>
        </p:txBody>
      </p:sp>
      <p:sp>
        <p:nvSpPr>
          <p:cNvPr id="5" name="Content Placeholder 4">
            <a:extLst>
              <a:ext uri="{FF2B5EF4-FFF2-40B4-BE49-F238E27FC236}">
                <a16:creationId xmlns:a16="http://schemas.microsoft.com/office/drawing/2014/main" id="{F8901A9D-9884-2791-D876-8F3A1CF6091B}"/>
              </a:ext>
            </a:extLst>
          </p:cNvPr>
          <p:cNvSpPr>
            <a:spLocks noGrp="1"/>
          </p:cNvSpPr>
          <p:nvPr>
            <p:ph idx="1"/>
          </p:nvPr>
        </p:nvSpPr>
        <p:spPr>
          <a:xfrm>
            <a:off x="993913" y="2047461"/>
            <a:ext cx="10359887" cy="4109623"/>
          </a:xfrm>
        </p:spPr>
        <p:txBody>
          <a:bodyPr>
            <a:normAutofit/>
          </a:bodyPr>
          <a:lstStyle/>
          <a:p>
            <a:pPr marL="0" indent="0">
              <a:buNone/>
            </a:pPr>
            <a:r>
              <a:rPr lang="en-US" sz="2800" dirty="0">
                <a:latin typeface="Times New Roman" panose="02020603050405020304" pitchFamily="18" charset="0"/>
                <a:cs typeface="Times New Roman" panose="02020603050405020304" pitchFamily="18" charset="0"/>
              </a:rPr>
              <a:t>⚠ Limitations in Existing Systems:</a:t>
            </a:r>
          </a:p>
          <a:p>
            <a:r>
              <a:rPr lang="en-US" sz="2800" dirty="0">
                <a:latin typeface="Times New Roman" panose="02020603050405020304" pitchFamily="18" charset="0"/>
                <a:cs typeface="Times New Roman" panose="02020603050405020304" pitchFamily="18" charset="0"/>
              </a:rPr>
              <a:t>Focus mainly on large-scale forecasting.</a:t>
            </a:r>
          </a:p>
          <a:p>
            <a:r>
              <a:rPr lang="en-US" sz="2800" dirty="0">
                <a:latin typeface="Times New Roman" panose="02020603050405020304" pitchFamily="18" charset="0"/>
                <a:cs typeface="Times New Roman" panose="02020603050405020304" pitchFamily="18" charset="0"/>
              </a:rPr>
              <a:t>Complex meteorological models.</a:t>
            </a:r>
          </a:p>
          <a:p>
            <a:r>
              <a:rPr lang="en-US" sz="2800" dirty="0">
                <a:latin typeface="Times New Roman" panose="02020603050405020304" pitchFamily="18" charset="0"/>
                <a:cs typeface="Times New Roman" panose="02020603050405020304" pitchFamily="18" charset="0"/>
              </a:rPr>
              <a:t>Limited simple real-time academic systems.</a:t>
            </a:r>
          </a:p>
          <a:p>
            <a:r>
              <a:rPr lang="en-US" sz="2800" dirty="0">
                <a:latin typeface="Times New Roman" panose="02020603050405020304" pitchFamily="18" charset="0"/>
                <a:cs typeface="Times New Roman" panose="02020603050405020304" pitchFamily="18" charset="0"/>
              </a:rPr>
              <a:t>Lack of integrated database + visualization approach</a:t>
            </a:r>
            <a:r>
              <a:rPr lang="en-US" sz="2800" dirty="0"/>
              <a:t>.</a:t>
            </a:r>
            <a:endParaRPr lang="en-IN" sz="2800" dirty="0"/>
          </a:p>
        </p:txBody>
      </p:sp>
    </p:spTree>
    <p:extLst>
      <p:ext uri="{BB962C8B-B14F-4D97-AF65-F5344CB8AC3E}">
        <p14:creationId xmlns:p14="http://schemas.microsoft.com/office/powerpoint/2010/main" val="830933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899B5-5209-C65C-A173-600369509B96}"/>
              </a:ext>
            </a:extLst>
          </p:cNvPr>
          <p:cNvSpPr>
            <a:spLocks noGrp="1"/>
          </p:cNvSpPr>
          <p:nvPr>
            <p:ph type="title"/>
          </p:nvPr>
        </p:nvSpPr>
        <p:spPr>
          <a:xfrm>
            <a:off x="974035" y="308114"/>
            <a:ext cx="10833652" cy="1152939"/>
          </a:xfrm>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964F2DA8-2041-5ED9-A1E1-44139377DD29}"/>
              </a:ext>
            </a:extLst>
          </p:cNvPr>
          <p:cNvSpPr>
            <a:spLocks noGrp="1"/>
          </p:cNvSpPr>
          <p:nvPr>
            <p:ph idx="1"/>
          </p:nvPr>
        </p:nvSpPr>
        <p:spPr>
          <a:xfrm>
            <a:off x="1073426" y="1928191"/>
            <a:ext cx="10280374" cy="4303644"/>
          </a:xfrm>
        </p:spPr>
        <p:txBody>
          <a:bodyPr>
            <a:normAutofit/>
          </a:bodyPr>
          <a:lstStyle/>
          <a:p>
            <a:pPr marL="0" indent="0">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Weather is becoming more unpredictable, and sudden cloud bursts are causing massive damage like floods and landslides. The main problem is that most current weather systems are either too expensive because they require IoT sensors or too complex because they use Machine Learning. This makes it hard for local authorities to have a simple, low-cost way to monitor risks in real-time. Also, raw weather data is often confusing, so there is a huge need for a system that can automatically detect anomalies and present them through clear alerts and visual reports.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5451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E714-A9A1-01CF-B2AA-30A99154C483}"/>
              </a:ext>
            </a:extLst>
          </p:cNvPr>
          <p:cNvSpPr>
            <a:spLocks noGrp="1"/>
          </p:cNvSpPr>
          <p:nvPr>
            <p:ph type="title"/>
          </p:nvPr>
        </p:nvSpPr>
        <p:spPr>
          <a:xfrm>
            <a:off x="1152938" y="286603"/>
            <a:ext cx="9525663" cy="1450757"/>
          </a:xfrm>
        </p:spPr>
        <p:txBody>
          <a:bodyPr/>
          <a:lstStyle/>
          <a:p>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38349DD2-B47B-7DB3-6DF7-683643B3111D}"/>
              </a:ext>
            </a:extLst>
          </p:cNvPr>
          <p:cNvSpPr>
            <a:spLocks noGrp="1"/>
          </p:cNvSpPr>
          <p:nvPr>
            <p:ph idx="1"/>
          </p:nvPr>
        </p:nvSpPr>
        <p:spPr>
          <a:xfrm>
            <a:off x="1152938" y="1918252"/>
            <a:ext cx="10200861" cy="4258712"/>
          </a:xfrm>
        </p:spPr>
        <p:txBody>
          <a:bodyPr>
            <a:normAutofit/>
          </a:bodyPr>
          <a:lstStyle/>
          <a:p>
            <a:r>
              <a:rPr lang="en-US" dirty="0">
                <a:latin typeface="Times New Roman" panose="02020603050405020304" pitchFamily="18" charset="0"/>
                <a:cs typeface="Times New Roman" panose="02020603050405020304" pitchFamily="18" charset="0"/>
              </a:rPr>
              <a:t>To identify cloud burst events by applying specific rainfall intensity thresholds.</a:t>
            </a:r>
          </a:p>
          <a:p>
            <a:r>
              <a:rPr lang="en-US" dirty="0">
                <a:latin typeface="Times New Roman" panose="02020603050405020304" pitchFamily="18" charset="0"/>
                <a:cs typeface="Times New Roman" panose="02020603050405020304" pitchFamily="18" charset="0"/>
              </a:rPr>
              <a:t>To detect abnormal changes in temperature and humidity by comparing real-time data with historical averages.</a:t>
            </a:r>
          </a:p>
          <a:p>
            <a:r>
              <a:rPr lang="en-US" dirty="0">
                <a:latin typeface="Times New Roman" panose="02020603050405020304" pitchFamily="18" charset="0"/>
                <a:cs typeface="Times New Roman" panose="02020603050405020304" pitchFamily="18" charset="0"/>
              </a:rPr>
              <a:t>To manage and query weather data efficiently using an SQL database for structured analysis.</a:t>
            </a:r>
          </a:p>
          <a:p>
            <a:r>
              <a:rPr lang="en-US" dirty="0">
                <a:latin typeface="Times New Roman" panose="02020603050405020304" pitchFamily="18" charset="0"/>
                <a:cs typeface="Times New Roman" panose="02020603050405020304" pitchFamily="18" charset="0"/>
              </a:rPr>
              <a:t>To visualize weather patterns through 7-day moving averages and heatmaps (District vs. Date).</a:t>
            </a:r>
          </a:p>
          <a:p>
            <a:r>
              <a:rPr lang="en-US" dirty="0">
                <a:latin typeface="Times New Roman" panose="02020603050405020304" pitchFamily="18" charset="0"/>
                <a:cs typeface="Times New Roman" panose="02020603050405020304" pitchFamily="18" charset="0"/>
              </a:rPr>
              <a:t>To develop a web-based dashboard using HTML and CSS that provides dynamic, color-coded alerts based on risk levels.</a:t>
            </a:r>
          </a:p>
          <a:p>
            <a:r>
              <a:rPr lang="en-US" dirty="0">
                <a:latin typeface="Times New Roman" panose="02020603050405020304" pitchFamily="18" charset="0"/>
                <a:cs typeface="Times New Roman" panose="02020603050405020304" pitchFamily="18" charset="0"/>
              </a:rPr>
              <a:t>To automate the creation of daily PDF reports that summarize rainfall peaks, anomalies, and risk indexes for better decision-making.</a:t>
            </a:r>
          </a:p>
          <a:p>
            <a:endParaRPr lang="en-IN" dirty="0"/>
          </a:p>
        </p:txBody>
      </p:sp>
    </p:spTree>
    <p:extLst>
      <p:ext uri="{BB962C8B-B14F-4D97-AF65-F5344CB8AC3E}">
        <p14:creationId xmlns:p14="http://schemas.microsoft.com/office/powerpoint/2010/main" val="2733821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43F8C-E12C-26E3-EAE6-FFAF5BB7043A}"/>
              </a:ext>
            </a:extLst>
          </p:cNvPr>
          <p:cNvSpPr>
            <a:spLocks noGrp="1"/>
          </p:cNvSpPr>
          <p:nvPr>
            <p:ph type="title"/>
          </p:nvPr>
        </p:nvSpPr>
        <p:spPr>
          <a:xfrm>
            <a:off x="1162878" y="1"/>
            <a:ext cx="10190922" cy="1690688"/>
          </a:xfrm>
        </p:spPr>
        <p:txBody>
          <a:bodyPr/>
          <a:lstStyle/>
          <a:p>
            <a:r>
              <a:rPr lang="en-IN"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C06D3EAC-080F-7761-CF8B-8A6F15A9DCCD}"/>
              </a:ext>
            </a:extLst>
          </p:cNvPr>
          <p:cNvSpPr>
            <a:spLocks noGrp="1"/>
          </p:cNvSpPr>
          <p:nvPr>
            <p:ph idx="1"/>
          </p:nvPr>
        </p:nvSpPr>
        <p:spPr>
          <a:xfrm>
            <a:off x="1162876" y="1828800"/>
            <a:ext cx="10190923" cy="4348164"/>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Our proposed project is a data-driven system that uses Python and SQL to identify cloud bursts by comparing rainfall against specific thresholds. It features a smart web dashboard with color-coded alerts and automated reports to make weather monitoring simple and effective.</a:t>
            </a:r>
          </a:p>
          <a:p>
            <a:r>
              <a:rPr lang="en-US" b="1" dirty="0">
                <a:latin typeface="Times New Roman" panose="02020603050405020304" pitchFamily="18" charset="0"/>
                <a:cs typeface="Times New Roman" panose="02020603050405020304" pitchFamily="18" charset="0"/>
              </a:rPr>
              <a:t>Logic-Based Detection:</a:t>
            </a:r>
            <a:r>
              <a:rPr lang="en-US" dirty="0">
                <a:latin typeface="Times New Roman" panose="02020603050405020304" pitchFamily="18" charset="0"/>
                <a:cs typeface="Times New Roman" panose="02020603050405020304" pitchFamily="18" charset="0"/>
              </a:rPr>
              <a:t> Uses rainfall thresholds and historical averages instead of ML or sensors.</a:t>
            </a:r>
          </a:p>
          <a:p>
            <a:r>
              <a:rPr lang="en-US" b="1" dirty="0">
                <a:latin typeface="Times New Roman" panose="02020603050405020304" pitchFamily="18" charset="0"/>
                <a:cs typeface="Times New Roman" panose="02020603050405020304" pitchFamily="18" charset="0"/>
              </a:rPr>
              <a:t>Trend Visualization:</a:t>
            </a:r>
            <a:r>
              <a:rPr lang="en-US" dirty="0">
                <a:latin typeface="Times New Roman" panose="02020603050405020304" pitchFamily="18" charset="0"/>
                <a:cs typeface="Times New Roman" panose="02020603050405020304" pitchFamily="18" charset="0"/>
              </a:rPr>
              <a:t> Includes 7-day moving averages and district-wise heatmaps to track patterns.</a:t>
            </a:r>
          </a:p>
          <a:p>
            <a:r>
              <a:rPr lang="en-US" b="1" dirty="0">
                <a:latin typeface="Times New Roman" panose="02020603050405020304" pitchFamily="18" charset="0"/>
                <a:cs typeface="Times New Roman" panose="02020603050405020304" pitchFamily="18" charset="0"/>
              </a:rPr>
              <a:t>Dynamic Dashboard:</a:t>
            </a:r>
            <a:r>
              <a:rPr lang="en-US" dirty="0">
                <a:latin typeface="Times New Roman" panose="02020603050405020304" pitchFamily="18" charset="0"/>
                <a:cs typeface="Times New Roman" panose="02020603050405020304" pitchFamily="18" charset="0"/>
              </a:rPr>
              <a:t> An HTML interface that changes color based on real-time alert levels.</a:t>
            </a:r>
          </a:p>
          <a:p>
            <a:r>
              <a:rPr lang="en-US" b="1" dirty="0">
                <a:latin typeface="Times New Roman" panose="02020603050405020304" pitchFamily="18" charset="0"/>
                <a:cs typeface="Times New Roman" panose="02020603050405020304" pitchFamily="18" charset="0"/>
              </a:rPr>
              <a:t>Automated Reporting:</a:t>
            </a:r>
            <a:r>
              <a:rPr lang="en-US" dirty="0">
                <a:latin typeface="Times New Roman" panose="02020603050405020304" pitchFamily="18" charset="0"/>
                <a:cs typeface="Times New Roman" panose="02020603050405020304" pitchFamily="18" charset="0"/>
              </a:rPr>
              <a:t> Generates daily PDF summaries with risk indexes and anomaly data.</a:t>
            </a:r>
          </a:p>
          <a:p>
            <a:r>
              <a:rPr lang="en-US" b="1" dirty="0">
                <a:latin typeface="Times New Roman" panose="02020603050405020304" pitchFamily="18" charset="0"/>
                <a:cs typeface="Times New Roman" panose="02020603050405020304" pitchFamily="18" charset="0"/>
              </a:rPr>
              <a:t>Risk Zoning:</a:t>
            </a:r>
            <a:r>
              <a:rPr lang="en-US" dirty="0">
                <a:latin typeface="Times New Roman" panose="02020603050405020304" pitchFamily="18" charset="0"/>
                <a:cs typeface="Times New Roman" panose="02020603050405020304" pitchFamily="18" charset="0"/>
              </a:rPr>
              <a:t> Uses static maps to highlight areas most prone to extreme weather</a:t>
            </a:r>
            <a:r>
              <a:rPr lang="en-US" dirty="0"/>
              <a:t>.</a:t>
            </a:r>
          </a:p>
          <a:p>
            <a:endParaRPr lang="en-IN" dirty="0"/>
          </a:p>
        </p:txBody>
      </p:sp>
    </p:spTree>
    <p:extLst>
      <p:ext uri="{BB962C8B-B14F-4D97-AF65-F5344CB8AC3E}">
        <p14:creationId xmlns:p14="http://schemas.microsoft.com/office/powerpoint/2010/main" val="2782334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0223D9-F2FF-64FD-55E6-418ABB2B3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537268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73A979-576A-8562-B3F8-481366B8C7B1}"/>
              </a:ext>
            </a:extLst>
          </p:cNvPr>
          <p:cNvPicPr>
            <a:picLocks noChangeAspect="1"/>
          </p:cNvPicPr>
          <p:nvPr/>
        </p:nvPicPr>
        <p:blipFill>
          <a:blip r:embed="rId2">
            <a:extLst>
              <a:ext uri="{28A0092B-C50C-407E-A947-70E740481C1C}">
                <a14:useLocalDpi xmlns:a14="http://schemas.microsoft.com/office/drawing/2010/main" val="0"/>
              </a:ext>
            </a:extLst>
          </a:blip>
          <a:srcRect l="5114" t="2699" r="2714" b="10512"/>
          <a:stretch>
            <a:fillRect/>
          </a:stretch>
        </p:blipFill>
        <p:spPr>
          <a:xfrm>
            <a:off x="2216426" y="129210"/>
            <a:ext cx="7374835" cy="6072808"/>
          </a:xfrm>
          <a:prstGeom prst="rect">
            <a:avLst/>
          </a:prstGeom>
        </p:spPr>
      </p:pic>
    </p:spTree>
    <p:extLst>
      <p:ext uri="{BB962C8B-B14F-4D97-AF65-F5344CB8AC3E}">
        <p14:creationId xmlns:p14="http://schemas.microsoft.com/office/powerpoint/2010/main" val="3489335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85329-5704-0675-DCA2-5E3941FECDE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USECASE DIAGRAM</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24CF07E6-E00A-2005-CB3D-BB53E406E7C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103" t="22731" r="1103" b="18603"/>
          <a:stretch>
            <a:fillRect/>
          </a:stretch>
        </p:blipFill>
        <p:spPr>
          <a:xfrm>
            <a:off x="1321904" y="1898373"/>
            <a:ext cx="9014791" cy="4283765"/>
          </a:xfrm>
        </p:spPr>
      </p:pic>
    </p:spTree>
    <p:extLst>
      <p:ext uri="{BB962C8B-B14F-4D97-AF65-F5344CB8AC3E}">
        <p14:creationId xmlns:p14="http://schemas.microsoft.com/office/powerpoint/2010/main" val="771141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A3AE9-DE97-561E-1E25-F3FCBA66BFB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Flow Diagram</a:t>
            </a:r>
            <a:endParaRPr lang="en-IN"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C03A9C1-E81B-7D69-FB86-F8213BE6E1A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494" t="22460" r="1235" b="31990"/>
          <a:stretch>
            <a:fillRect/>
          </a:stretch>
        </p:blipFill>
        <p:spPr>
          <a:xfrm>
            <a:off x="2484783" y="2077279"/>
            <a:ext cx="5446643" cy="3836504"/>
          </a:xfrm>
        </p:spPr>
      </p:pic>
    </p:spTree>
    <p:extLst>
      <p:ext uri="{BB962C8B-B14F-4D97-AF65-F5344CB8AC3E}">
        <p14:creationId xmlns:p14="http://schemas.microsoft.com/office/powerpoint/2010/main" val="4119051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D3311-1892-D12B-80D2-AB41B90162E7}"/>
              </a:ext>
            </a:extLst>
          </p:cNvPr>
          <p:cNvSpPr>
            <a:spLocks noGrp="1"/>
          </p:cNvSpPr>
          <p:nvPr>
            <p:ph type="title"/>
          </p:nvPr>
        </p:nvSpPr>
        <p:spPr>
          <a:xfrm>
            <a:off x="1351722" y="365125"/>
            <a:ext cx="10002078" cy="843915"/>
          </a:xfrm>
        </p:spPr>
        <p:txBody>
          <a:bodyPr/>
          <a:lstStyle/>
          <a:p>
            <a:r>
              <a:rPr lang="en-IN" dirty="0">
                <a:latin typeface="Times New Roman" panose="02020603050405020304" pitchFamily="18" charset="0"/>
                <a:cs typeface="Times New Roman" panose="02020603050405020304" pitchFamily="18" charset="0"/>
              </a:rPr>
              <a:t>SOFTWARE REQUIREMENTS </a:t>
            </a:r>
          </a:p>
        </p:txBody>
      </p:sp>
      <p:sp>
        <p:nvSpPr>
          <p:cNvPr id="3" name="Content Placeholder 2">
            <a:extLst>
              <a:ext uri="{FF2B5EF4-FFF2-40B4-BE49-F238E27FC236}">
                <a16:creationId xmlns:a16="http://schemas.microsoft.com/office/drawing/2014/main" id="{4504A752-755C-222D-8F79-38BF6022445E}"/>
              </a:ext>
            </a:extLst>
          </p:cNvPr>
          <p:cNvSpPr>
            <a:spLocks noGrp="1"/>
          </p:cNvSpPr>
          <p:nvPr>
            <p:ph idx="1"/>
          </p:nvPr>
        </p:nvSpPr>
        <p:spPr>
          <a:xfrm>
            <a:off x="1152938" y="1818861"/>
            <a:ext cx="10200861" cy="4286982"/>
          </a:xfrm>
        </p:spPr>
        <p:txBody>
          <a:bodyPr>
            <a:normAutofit/>
          </a:bodyPr>
          <a:lstStyle/>
          <a:p>
            <a:r>
              <a:rPr lang="en-IN" sz="2400" dirty="0">
                <a:latin typeface="Times New Roman" panose="02020603050405020304" pitchFamily="18" charset="0"/>
                <a:cs typeface="Times New Roman" panose="02020603050405020304" pitchFamily="18" charset="0"/>
              </a:rPr>
              <a:t>Programming Languages : Python, HTML &amp;CSS </a:t>
            </a:r>
          </a:p>
          <a:p>
            <a:r>
              <a:rPr lang="en-IN" sz="2400" dirty="0">
                <a:latin typeface="Times New Roman" panose="02020603050405020304" pitchFamily="18" charset="0"/>
                <a:cs typeface="Times New Roman" panose="02020603050405020304" pitchFamily="18" charset="0"/>
              </a:rPr>
              <a:t>Database Management : MySQL/ SQL </a:t>
            </a:r>
          </a:p>
          <a:p>
            <a:r>
              <a:rPr lang="en-IN" sz="2400" dirty="0">
                <a:latin typeface="Times New Roman" panose="02020603050405020304" pitchFamily="18" charset="0"/>
                <a:cs typeface="Times New Roman" panose="02020603050405020304" pitchFamily="18" charset="0"/>
              </a:rPr>
              <a:t>Development Tools (IDEs) : </a:t>
            </a:r>
            <a:r>
              <a:rPr lang="en-IN" sz="2400" dirty="0" err="1">
                <a:latin typeface="Times New Roman" panose="02020603050405020304" pitchFamily="18" charset="0"/>
                <a:cs typeface="Times New Roman" panose="02020603050405020304" pitchFamily="18" charset="0"/>
              </a:rPr>
              <a:t>VSCode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Jupyter</a:t>
            </a:r>
            <a:r>
              <a:rPr lang="en-IN" sz="2400" dirty="0">
                <a:latin typeface="Times New Roman" panose="02020603050405020304" pitchFamily="18" charset="0"/>
                <a:cs typeface="Times New Roman" panose="02020603050405020304" pitchFamily="18" charset="0"/>
              </a:rPr>
              <a:t> Notebook</a:t>
            </a:r>
          </a:p>
          <a:p>
            <a:r>
              <a:rPr lang="en-IN" sz="2400" dirty="0">
                <a:latin typeface="Times New Roman" panose="02020603050405020304" pitchFamily="18" charset="0"/>
                <a:cs typeface="Times New Roman" panose="02020603050405020304" pitchFamily="18" charset="0"/>
              </a:rPr>
              <a:t>Libraries used:</a:t>
            </a:r>
            <a:endParaRPr lang="en-US" sz="2400" dirty="0">
              <a:latin typeface="Times New Roman" panose="02020603050405020304" pitchFamily="18" charset="0"/>
              <a:cs typeface="Times New Roman" panose="02020603050405020304" pitchFamily="18" charset="0"/>
            </a:endParaRPr>
          </a:p>
          <a:p>
            <a:pPr lvl="1"/>
            <a:r>
              <a:rPr lang="en-US" sz="2400" b="1" dirty="0">
                <a:latin typeface="Times New Roman" panose="02020603050405020304" pitchFamily="18" charset="0"/>
                <a:cs typeface="Times New Roman" panose="02020603050405020304" pitchFamily="18" charset="0"/>
              </a:rPr>
              <a:t>Pandas &amp; NumPy:</a:t>
            </a:r>
            <a:r>
              <a:rPr lang="en-US" sz="2400" dirty="0">
                <a:latin typeface="Times New Roman" panose="02020603050405020304" pitchFamily="18" charset="0"/>
                <a:cs typeface="Times New Roman" panose="02020603050405020304" pitchFamily="18" charset="0"/>
              </a:rPr>
              <a:t> For all our data calculations and trend analysis.</a:t>
            </a:r>
          </a:p>
          <a:p>
            <a:pPr lvl="1"/>
            <a:r>
              <a:rPr lang="en-US" sz="2400" b="1" dirty="0">
                <a:latin typeface="Times New Roman" panose="02020603050405020304" pitchFamily="18" charset="0"/>
                <a:cs typeface="Times New Roman" panose="02020603050405020304" pitchFamily="18" charset="0"/>
              </a:rPr>
              <a:t>Matplotlib / Seaborn:</a:t>
            </a:r>
            <a:r>
              <a:rPr lang="en-US" sz="2400" dirty="0">
                <a:latin typeface="Times New Roman" panose="02020603050405020304" pitchFamily="18" charset="0"/>
                <a:cs typeface="Times New Roman" panose="02020603050405020304" pitchFamily="18" charset="0"/>
              </a:rPr>
              <a:t> To generate the heat maps and rainfall intensity charts.</a:t>
            </a:r>
          </a:p>
          <a:p>
            <a:pPr lvl="1"/>
            <a:r>
              <a:rPr lang="en-US" sz="2400" b="1" dirty="0">
                <a:latin typeface="Times New Roman" panose="02020603050405020304" pitchFamily="18" charset="0"/>
                <a:cs typeface="Times New Roman" panose="02020603050405020304" pitchFamily="18" charset="0"/>
              </a:rPr>
              <a:t>FPDF/</a:t>
            </a:r>
            <a:r>
              <a:rPr lang="en-US" sz="2400" b="1" dirty="0" err="1">
                <a:latin typeface="Times New Roman" panose="02020603050405020304" pitchFamily="18" charset="0"/>
                <a:cs typeface="Times New Roman" panose="02020603050405020304" pitchFamily="18" charset="0"/>
              </a:rPr>
              <a:t>ReportLab</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 simple library we integrated to automatically generate the daily PDF reports.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7732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316C8-C2D2-0C48-6409-2902B75DB27A}"/>
              </a:ext>
            </a:extLst>
          </p:cNvPr>
          <p:cNvSpPr>
            <a:spLocks noGrp="1"/>
          </p:cNvSpPr>
          <p:nvPr>
            <p:ph type="title"/>
          </p:nvPr>
        </p:nvSpPr>
        <p:spPr>
          <a:xfrm>
            <a:off x="1222512" y="91441"/>
            <a:ext cx="10131287" cy="1599248"/>
          </a:xfrm>
        </p:spPr>
        <p:txBody>
          <a:bodyPr/>
          <a:lstStyle/>
          <a:p>
            <a:r>
              <a:rPr lang="en-IN" dirty="0">
                <a:latin typeface="Times New Roman" panose="02020603050405020304" pitchFamily="18" charset="0"/>
                <a:cs typeface="Times New Roman" panose="02020603050405020304" pitchFamily="18" charset="0"/>
              </a:rPr>
              <a:t>HARDWARE REQUIREMENTS</a:t>
            </a:r>
          </a:p>
        </p:txBody>
      </p:sp>
      <p:sp>
        <p:nvSpPr>
          <p:cNvPr id="3" name="Content Placeholder 2">
            <a:extLst>
              <a:ext uri="{FF2B5EF4-FFF2-40B4-BE49-F238E27FC236}">
                <a16:creationId xmlns:a16="http://schemas.microsoft.com/office/drawing/2014/main" id="{D59070C2-DDC6-D739-C453-A3AD20F47C2C}"/>
              </a:ext>
            </a:extLst>
          </p:cNvPr>
          <p:cNvSpPr>
            <a:spLocks noGrp="1"/>
          </p:cNvSpPr>
          <p:nvPr>
            <p:ph idx="1"/>
          </p:nvPr>
        </p:nvSpPr>
        <p:spPr>
          <a:xfrm>
            <a:off x="1222512" y="1997765"/>
            <a:ext cx="9796008" cy="4158878"/>
          </a:xfrm>
        </p:spPr>
        <p:txBody>
          <a:bodyPr>
            <a:normAutofit/>
          </a:bodyPr>
          <a:lstStyle/>
          <a:p>
            <a:r>
              <a:rPr lang="en-IN" sz="2400" b="1" dirty="0">
                <a:latin typeface="Times New Roman" panose="02020603050405020304" pitchFamily="18" charset="0"/>
                <a:cs typeface="Times New Roman" panose="02020603050405020304" pitchFamily="18" charset="0"/>
              </a:rPr>
              <a:t>Processor:</a:t>
            </a:r>
            <a:r>
              <a:rPr lang="en-IN" sz="2400" dirty="0">
                <a:latin typeface="Times New Roman" panose="02020603050405020304" pitchFamily="18" charset="0"/>
                <a:cs typeface="Times New Roman" panose="02020603050405020304" pitchFamily="18" charset="0"/>
              </a:rPr>
              <a:t> Intel i5 or equivalent AMD processor (Fast enough to run our Python logic and SQL queries).</a:t>
            </a:r>
          </a:p>
          <a:p>
            <a:r>
              <a:rPr lang="en-IN" sz="2400" b="1" dirty="0">
                <a:latin typeface="Times New Roman" panose="02020603050405020304" pitchFamily="18" charset="0"/>
                <a:cs typeface="Times New Roman" panose="02020603050405020304" pitchFamily="18" charset="0"/>
              </a:rPr>
              <a:t>RAM:</a:t>
            </a:r>
            <a:r>
              <a:rPr lang="en-IN" sz="2400" dirty="0">
                <a:latin typeface="Times New Roman" panose="02020603050405020304" pitchFamily="18" charset="0"/>
                <a:cs typeface="Times New Roman" panose="02020603050405020304" pitchFamily="18" charset="0"/>
              </a:rPr>
              <a:t> 4 GB Minimum (To handle data visualization and the web dashboard smoothly).</a:t>
            </a:r>
          </a:p>
          <a:p>
            <a:r>
              <a:rPr lang="en-IN" sz="2400" b="1" dirty="0">
                <a:latin typeface="Times New Roman" panose="02020603050405020304" pitchFamily="18" charset="0"/>
                <a:cs typeface="Times New Roman" panose="02020603050405020304" pitchFamily="18" charset="0"/>
              </a:rPr>
              <a:t>Storage:</a:t>
            </a:r>
            <a:r>
              <a:rPr lang="en-IN" sz="2400" dirty="0">
                <a:latin typeface="Times New Roman" panose="02020603050405020304" pitchFamily="18" charset="0"/>
                <a:cs typeface="Times New Roman" panose="02020603050405020304" pitchFamily="18" charset="0"/>
              </a:rPr>
              <a:t> 256 GB HDD/SSD (To store our SQL database and the generated PDF reports).</a:t>
            </a:r>
          </a:p>
          <a:p>
            <a:r>
              <a:rPr lang="en-IN" sz="2400" b="1"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Windows 10/11 or Linux.</a:t>
            </a:r>
          </a:p>
        </p:txBody>
      </p:sp>
    </p:spTree>
    <p:extLst>
      <p:ext uri="{BB962C8B-B14F-4D97-AF65-F5344CB8AC3E}">
        <p14:creationId xmlns:p14="http://schemas.microsoft.com/office/powerpoint/2010/main" val="2393336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8F663-CBF4-E9FC-BE9A-65C21F14E5ED}"/>
              </a:ext>
            </a:extLst>
          </p:cNvPr>
          <p:cNvSpPr>
            <a:spLocks noGrp="1"/>
          </p:cNvSpPr>
          <p:nvPr>
            <p:ph type="title"/>
          </p:nvPr>
        </p:nvSpPr>
        <p:spPr>
          <a:xfrm>
            <a:off x="2594112" y="2295940"/>
            <a:ext cx="6410739" cy="1530626"/>
          </a:xfrm>
        </p:spPr>
        <p:txBody>
          <a:bodyPr>
            <a:normAutofit/>
          </a:bodyPr>
          <a:lstStyle/>
          <a:p>
            <a:r>
              <a:rPr lang="en-US" sz="7200" dirty="0">
                <a:latin typeface="Times New Roman" panose="02020603050405020304" pitchFamily="18" charset="0"/>
                <a:cs typeface="Times New Roman" panose="02020603050405020304" pitchFamily="18" charset="0"/>
              </a:rPr>
              <a:t>THANK YOU</a:t>
            </a:r>
            <a:endParaRPr lang="en-IN"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513540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144</TotalTime>
  <Words>771</Words>
  <Application>Microsoft Office PowerPoint</Application>
  <PresentationFormat>Widescreen</PresentationFormat>
  <Paragraphs>56</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Calibri Light</vt:lpstr>
      <vt:lpstr>Times New Roman</vt:lpstr>
      <vt:lpstr>Retrospect</vt:lpstr>
      <vt:lpstr>CLOUD BURST IDENTIFICATION  AND WEATHER ANOMALY DETECTION</vt:lpstr>
      <vt:lpstr>ABSTRACT</vt:lpstr>
      <vt:lpstr>INTRODUCTION</vt:lpstr>
      <vt:lpstr>LITERATURE SURVEY</vt:lpstr>
      <vt:lpstr>PROBLEM STATEMENT</vt:lpstr>
      <vt:lpstr>OBJECTIVES</vt:lpstr>
      <vt:lpstr>PROPOSED SYSTEM</vt:lpstr>
      <vt:lpstr>PowerPoint Presentation</vt:lpstr>
      <vt:lpstr>PowerPoint Presentation</vt:lpstr>
      <vt:lpstr>USECASE DIAGRAM</vt:lpstr>
      <vt:lpstr>Data Flow Diagram</vt:lpstr>
      <vt:lpstr>SOFTWARE REQUIREMENTS </vt:lpstr>
      <vt:lpstr>HARDWARE REQUIREMENTS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 Harini</dc:creator>
  <cp:lastModifiedBy>Sri Harini</cp:lastModifiedBy>
  <cp:revision>3</cp:revision>
  <dcterms:created xsi:type="dcterms:W3CDTF">2026-02-20T16:50:16Z</dcterms:created>
  <dcterms:modified xsi:type="dcterms:W3CDTF">2026-02-25T19:43:28Z</dcterms:modified>
</cp:coreProperties>
</file>