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9" r:id="rId2"/>
    <p:sldId id="277" r:id="rId3"/>
    <p:sldId id="262" r:id="rId4"/>
    <p:sldId id="283" r:id="rId5"/>
    <p:sldId id="284" r:id="rId6"/>
    <p:sldId id="266" r:id="rId7"/>
    <p:sldId id="280" r:id="rId8"/>
    <p:sldId id="276" r:id="rId9"/>
    <p:sldId id="281" r:id="rId10"/>
    <p:sldId id="285" r:id="rId11"/>
    <p:sldId id="279" r:id="rId12"/>
    <p:sldId id="282" r:id="rId13"/>
    <p:sldId id="286" r:id="rId14"/>
    <p:sldId id="271"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643"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E702AB04-7C5B-48EB-B77E-067F7962D302}" type="datetimeFigureOut">
              <a:rPr lang="en-US" smtClean="0"/>
              <a:t>2/26/2026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14D9F3A3-18C3-4923-BF2E-716D5368A24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02AB04-7C5B-48EB-B77E-067F7962D30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D9F3A3-18C3-4923-BF2E-716D5368A24F}" type="slidenum">
              <a:rPr lang="en-US" smtClean="0"/>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702AB04-7C5B-48EB-B77E-067F7962D30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D9F3A3-18C3-4923-BF2E-716D5368A24F}" type="slidenum">
              <a:rPr lang="en-US" smtClean="0"/>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702AB04-7C5B-48EB-B77E-067F7962D302}"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D9F3A3-18C3-4923-BF2E-716D5368A24F}" type="slidenum">
              <a:rPr lang="en-US" smtClean="0"/>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702AB04-7C5B-48EB-B77E-067F7962D302}"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D9F3A3-18C3-4923-BF2E-716D5368A24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702AB04-7C5B-48EB-B77E-067F7962D302}"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D9F3A3-18C3-4923-BF2E-716D5368A24F}" type="slidenum">
              <a:rPr lang="en-US" smtClean="0"/>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02AB04-7C5B-48EB-B77E-067F7962D302}"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D9F3A3-18C3-4923-BF2E-716D5368A24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E702AB04-7C5B-48EB-B77E-067F7962D302}"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D9F3A3-18C3-4923-BF2E-716D5368A24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E702AB04-7C5B-48EB-B77E-067F7962D302}" type="datetimeFigureOut">
              <a:rPr lang="en-US" smtClean="0"/>
              <a:t>2/26/2026</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14D9F3A3-18C3-4923-BF2E-716D5368A24F}" type="slidenum">
              <a:rPr lang="en-US" smtClean="0"/>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02AB04-7C5B-48EB-B77E-067F7962D30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D9F3A3-18C3-4923-BF2E-716D5368A2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02AB04-7C5B-48EB-B77E-067F7962D30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D9F3A3-18C3-4923-BF2E-716D5368A2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E702AB04-7C5B-48EB-B77E-067F7962D302}" type="datetimeFigureOut">
              <a:rPr lang="en-US" smtClean="0"/>
              <a:t>2/26/2026</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14D9F3A3-18C3-4923-BF2E-716D5368A24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sciencedirect.com/science/article/pii/S2212420921006403" TargetMode="External"/><Relationship Id="rId2" Type="http://schemas.openxmlformats.org/officeDocument/2006/relationships/hyperlink" Target="https://pypi.org/project/fpdf/" TargetMode="External"/><Relationship Id="rId1" Type="http://schemas.openxmlformats.org/officeDocument/2006/relationships/slideLayout" Target="../slideLayouts/slideLayout2.xml"/><Relationship Id="rId4" Type="http://schemas.openxmlformats.org/officeDocument/2006/relationships/hyperlink" Target="https://flask.palletsprojects.com/en/stabl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623163"/>
            <a:ext cx="10596419" cy="3781059"/>
          </a:xfrm>
        </p:spPr>
        <p:txBody>
          <a:bodyPr>
            <a:noAutofit/>
          </a:bodyPr>
          <a:lstStyle/>
          <a:p>
            <a:pPr marL="539750" marR="112395" algn="ctr">
              <a:lnSpc>
                <a:spcPct val="100000"/>
              </a:lnSpc>
              <a:spcBef>
                <a:spcPts val="435"/>
              </a:spcBef>
              <a:spcAft>
                <a:spcPts val="0"/>
              </a:spcAft>
            </a:pPr>
            <a:r>
              <a:rPr lang="en-US" b="1" dirty="0">
                <a:solidFill>
                  <a:srgbClr val="006FC0"/>
                </a:solidFill>
                <a:latin typeface="CG Omega"/>
                <a:ea typeface="Trebuchet MS"/>
                <a:cs typeface="Trebuchet MS"/>
              </a:rPr>
              <a:t>CVR</a:t>
            </a:r>
            <a:r>
              <a:rPr lang="en-US" b="1" spc="195" dirty="0">
                <a:solidFill>
                  <a:srgbClr val="006FC0"/>
                </a:solidFill>
                <a:latin typeface="CG Omega"/>
                <a:ea typeface="Trebuchet MS"/>
                <a:cs typeface="Trebuchet MS"/>
              </a:rPr>
              <a:t> </a:t>
            </a:r>
            <a:r>
              <a:rPr lang="en-US" b="1" dirty="0">
                <a:solidFill>
                  <a:srgbClr val="006FC0"/>
                </a:solidFill>
                <a:latin typeface="CG Omega"/>
                <a:ea typeface="Trebuchet MS"/>
                <a:cs typeface="Trebuchet MS"/>
              </a:rPr>
              <a:t>COLLEGE</a:t>
            </a:r>
            <a:r>
              <a:rPr lang="en-US" b="1" spc="185" dirty="0">
                <a:solidFill>
                  <a:srgbClr val="006FC0"/>
                </a:solidFill>
                <a:latin typeface="CG Omega"/>
                <a:ea typeface="Trebuchet MS"/>
                <a:cs typeface="Trebuchet MS"/>
              </a:rPr>
              <a:t> </a:t>
            </a:r>
            <a:r>
              <a:rPr lang="en-US" b="1" dirty="0">
                <a:solidFill>
                  <a:srgbClr val="006FC0"/>
                </a:solidFill>
                <a:latin typeface="CG Omega"/>
                <a:ea typeface="Trebuchet MS"/>
                <a:cs typeface="Trebuchet MS"/>
              </a:rPr>
              <a:t>OF</a:t>
            </a:r>
            <a:r>
              <a:rPr lang="en-US" b="1" spc="200" dirty="0">
                <a:solidFill>
                  <a:srgbClr val="006FC0"/>
                </a:solidFill>
                <a:latin typeface="CG Omega"/>
                <a:ea typeface="Trebuchet MS"/>
                <a:cs typeface="Trebuchet MS"/>
              </a:rPr>
              <a:t> </a:t>
            </a:r>
            <a:r>
              <a:rPr lang="en-US" b="1" dirty="0">
                <a:solidFill>
                  <a:srgbClr val="006FC0"/>
                </a:solidFill>
                <a:latin typeface="CG Omega"/>
                <a:ea typeface="Trebuchet MS"/>
                <a:cs typeface="Trebuchet MS"/>
              </a:rPr>
              <a:t>ENGINEERING</a:t>
            </a:r>
            <a:br>
              <a:rPr lang="en-IN" b="1" dirty="0">
                <a:latin typeface="Trebuchet MS"/>
                <a:ea typeface="Trebuchet MS"/>
                <a:cs typeface="Trebuchet MS"/>
              </a:rPr>
            </a:br>
            <a:r>
              <a:rPr lang="en-US" sz="1600" b="1" dirty="0">
                <a:solidFill>
                  <a:schemeClr val="tx1"/>
                </a:solidFill>
                <a:latin typeface="Times New Roman"/>
                <a:ea typeface="Times New Roman"/>
              </a:rPr>
              <a:t>(</a:t>
            </a:r>
            <a:r>
              <a:rPr lang="en-US" sz="1600" b="1" i="1" dirty="0">
                <a:solidFill>
                  <a:schemeClr val="tx1"/>
                </a:solidFill>
                <a:latin typeface="Times New Roman"/>
                <a:ea typeface="Times New Roman"/>
              </a:rPr>
              <a:t>An</a:t>
            </a:r>
            <a:r>
              <a:rPr lang="en-US" sz="1600" b="1" i="1" spc="-10" dirty="0">
                <a:solidFill>
                  <a:schemeClr val="tx1"/>
                </a:solidFill>
                <a:latin typeface="Times New Roman"/>
                <a:ea typeface="Times New Roman"/>
              </a:rPr>
              <a:t> </a:t>
            </a:r>
            <a:r>
              <a:rPr lang="en-US" sz="1600" b="1" i="1" dirty="0">
                <a:solidFill>
                  <a:schemeClr val="tx1"/>
                </a:solidFill>
                <a:latin typeface="Times New Roman"/>
                <a:ea typeface="Times New Roman"/>
              </a:rPr>
              <a:t>Autonomous</a:t>
            </a:r>
            <a:r>
              <a:rPr lang="en-US" sz="1600" b="1" i="1" spc="-20" dirty="0">
                <a:solidFill>
                  <a:schemeClr val="tx1"/>
                </a:solidFill>
                <a:latin typeface="Times New Roman"/>
                <a:ea typeface="Times New Roman"/>
              </a:rPr>
              <a:t> </a:t>
            </a:r>
            <a:r>
              <a:rPr lang="en-US" sz="1600" b="1" i="1" dirty="0">
                <a:solidFill>
                  <a:schemeClr val="tx1"/>
                </a:solidFill>
                <a:latin typeface="Times New Roman"/>
                <a:ea typeface="Times New Roman"/>
              </a:rPr>
              <a:t>Institution,</a:t>
            </a:r>
            <a:r>
              <a:rPr lang="en-US" sz="1600" b="1" i="1" spc="-10" dirty="0">
                <a:solidFill>
                  <a:schemeClr val="tx1"/>
                </a:solidFill>
                <a:latin typeface="Times New Roman"/>
                <a:ea typeface="Times New Roman"/>
              </a:rPr>
              <a:t> </a:t>
            </a:r>
            <a:r>
              <a:rPr lang="en-US" sz="1600" b="1" i="1" dirty="0">
                <a:solidFill>
                  <a:schemeClr val="tx1"/>
                </a:solidFill>
                <a:latin typeface="Times New Roman"/>
                <a:ea typeface="Times New Roman"/>
              </a:rPr>
              <a:t>NAAC</a:t>
            </a:r>
            <a:r>
              <a:rPr lang="en-US" sz="1600" b="1" i="1" spc="-15" dirty="0">
                <a:solidFill>
                  <a:schemeClr val="tx1"/>
                </a:solidFill>
                <a:latin typeface="Times New Roman"/>
                <a:ea typeface="Times New Roman"/>
              </a:rPr>
              <a:t> </a:t>
            </a:r>
            <a:r>
              <a:rPr lang="en-US" sz="1600" b="1" i="1" dirty="0">
                <a:solidFill>
                  <a:schemeClr val="tx1"/>
                </a:solidFill>
                <a:latin typeface="Times New Roman"/>
                <a:ea typeface="Times New Roman"/>
              </a:rPr>
              <a:t>Accredited</a:t>
            </a:r>
            <a:r>
              <a:rPr lang="en-US" sz="1600" b="1" i="1" spc="-15" dirty="0">
                <a:solidFill>
                  <a:schemeClr val="tx1"/>
                </a:solidFill>
                <a:latin typeface="Times New Roman"/>
                <a:ea typeface="Times New Roman"/>
              </a:rPr>
              <a:t> </a:t>
            </a:r>
            <a:r>
              <a:rPr lang="en-US" sz="1600" b="1" i="1" dirty="0">
                <a:solidFill>
                  <a:schemeClr val="tx1"/>
                </a:solidFill>
                <a:latin typeface="Times New Roman"/>
                <a:ea typeface="Times New Roman"/>
              </a:rPr>
              <a:t>and</a:t>
            </a:r>
            <a:r>
              <a:rPr lang="en-US" sz="1600" b="1" i="1" spc="-10" dirty="0">
                <a:solidFill>
                  <a:schemeClr val="tx1"/>
                </a:solidFill>
                <a:latin typeface="Times New Roman"/>
                <a:ea typeface="Times New Roman"/>
              </a:rPr>
              <a:t> </a:t>
            </a:r>
            <a:r>
              <a:rPr lang="en-US" sz="1600" b="1" i="1" dirty="0">
                <a:solidFill>
                  <a:schemeClr val="tx1"/>
                </a:solidFill>
                <a:latin typeface="Times New Roman"/>
                <a:ea typeface="Times New Roman"/>
              </a:rPr>
              <a:t>Affiliated</a:t>
            </a:r>
            <a:r>
              <a:rPr lang="en-US" sz="1600" b="1" i="1" spc="-10" dirty="0">
                <a:solidFill>
                  <a:schemeClr val="tx1"/>
                </a:solidFill>
                <a:latin typeface="Times New Roman"/>
                <a:ea typeface="Times New Roman"/>
              </a:rPr>
              <a:t> </a:t>
            </a:r>
            <a:r>
              <a:rPr lang="en-US" sz="1600" b="1" i="1" dirty="0">
                <a:solidFill>
                  <a:schemeClr val="tx1"/>
                </a:solidFill>
                <a:latin typeface="Times New Roman"/>
                <a:ea typeface="Times New Roman"/>
              </a:rPr>
              <a:t>to</a:t>
            </a:r>
            <a:r>
              <a:rPr lang="en-US" sz="1600" b="1" i="1" spc="-25" dirty="0">
                <a:solidFill>
                  <a:schemeClr val="tx1"/>
                </a:solidFill>
                <a:latin typeface="Times New Roman"/>
                <a:ea typeface="Times New Roman"/>
              </a:rPr>
              <a:t> </a:t>
            </a:r>
            <a:r>
              <a:rPr lang="en-US" sz="1600" b="1" i="1" dirty="0">
                <a:solidFill>
                  <a:schemeClr val="tx1"/>
                </a:solidFill>
                <a:latin typeface="Times New Roman"/>
                <a:ea typeface="Times New Roman"/>
              </a:rPr>
              <a:t>JNTU,</a:t>
            </a:r>
            <a:r>
              <a:rPr lang="en-US" sz="1600" b="1" i="1" spc="-25" dirty="0">
                <a:solidFill>
                  <a:schemeClr val="tx1"/>
                </a:solidFill>
                <a:latin typeface="Times New Roman"/>
                <a:ea typeface="Times New Roman"/>
              </a:rPr>
              <a:t> </a:t>
            </a:r>
            <a:r>
              <a:rPr lang="en-US" sz="1600" b="1" i="1" dirty="0">
                <a:solidFill>
                  <a:schemeClr val="tx1"/>
                </a:solidFill>
                <a:latin typeface="Times New Roman"/>
                <a:ea typeface="Times New Roman"/>
              </a:rPr>
              <a:t>Hyderabad</a:t>
            </a:r>
            <a:r>
              <a:rPr lang="en-US" sz="1600" b="1" dirty="0">
                <a:solidFill>
                  <a:schemeClr val="tx1"/>
                </a:solidFill>
                <a:latin typeface="Times New Roman"/>
                <a:ea typeface="Times New Roman"/>
              </a:rPr>
              <a:t>)</a:t>
            </a:r>
            <a:br>
              <a:rPr lang="en-IN" sz="1600" dirty="0">
                <a:solidFill>
                  <a:schemeClr val="tx1"/>
                </a:solidFill>
                <a:latin typeface="Times New Roman"/>
                <a:ea typeface="Times New Roman"/>
              </a:rPr>
            </a:br>
            <a:r>
              <a:rPr lang="en-US" sz="1600" dirty="0" err="1">
                <a:solidFill>
                  <a:schemeClr val="tx1"/>
                </a:solidFill>
                <a:latin typeface="Times New Roman"/>
                <a:ea typeface="Times New Roman"/>
              </a:rPr>
              <a:t>Vastunagar</a:t>
            </a:r>
            <a:r>
              <a:rPr lang="en-US" sz="1600" dirty="0">
                <a:solidFill>
                  <a:schemeClr val="tx1"/>
                </a:solidFill>
                <a:latin typeface="Times New Roman"/>
                <a:ea typeface="Times New Roman"/>
              </a:rPr>
              <a:t>, </a:t>
            </a:r>
            <a:r>
              <a:rPr lang="en-US" sz="1600" dirty="0" err="1">
                <a:solidFill>
                  <a:schemeClr val="tx1"/>
                </a:solidFill>
                <a:latin typeface="Times New Roman"/>
                <a:ea typeface="Times New Roman"/>
              </a:rPr>
              <a:t>Mangalpalli</a:t>
            </a:r>
            <a:r>
              <a:rPr lang="en-US" sz="1600" dirty="0">
                <a:solidFill>
                  <a:schemeClr val="tx1"/>
                </a:solidFill>
                <a:latin typeface="Times New Roman"/>
                <a:ea typeface="Times New Roman"/>
              </a:rPr>
              <a:t> (V), </a:t>
            </a:r>
            <a:r>
              <a:rPr lang="en-US" sz="1600" dirty="0" err="1">
                <a:solidFill>
                  <a:schemeClr val="tx1"/>
                </a:solidFill>
                <a:latin typeface="Times New Roman"/>
                <a:ea typeface="Times New Roman"/>
              </a:rPr>
              <a:t>Ibrahimpatnam</a:t>
            </a:r>
            <a:r>
              <a:rPr lang="en-US" sz="1600" dirty="0">
                <a:solidFill>
                  <a:schemeClr val="tx1"/>
                </a:solidFill>
                <a:latin typeface="Times New Roman"/>
                <a:ea typeface="Times New Roman"/>
              </a:rPr>
              <a:t> (M),</a:t>
            </a:r>
            <a:r>
              <a:rPr lang="en-US" sz="1600" spc="-285" dirty="0">
                <a:solidFill>
                  <a:schemeClr val="tx1"/>
                </a:solidFill>
                <a:latin typeface="Times New Roman"/>
                <a:ea typeface="Times New Roman"/>
              </a:rPr>
              <a:t> </a:t>
            </a:r>
            <a:r>
              <a:rPr lang="en-US" sz="1600" dirty="0" err="1">
                <a:solidFill>
                  <a:schemeClr val="tx1"/>
                </a:solidFill>
                <a:latin typeface="Times New Roman"/>
                <a:ea typeface="Times New Roman"/>
              </a:rPr>
              <a:t>Rangareddy</a:t>
            </a:r>
            <a:r>
              <a:rPr lang="en-US" sz="1600" spc="-5" dirty="0">
                <a:solidFill>
                  <a:schemeClr val="tx1"/>
                </a:solidFill>
                <a:latin typeface="Times New Roman"/>
                <a:ea typeface="Times New Roman"/>
              </a:rPr>
              <a:t> </a:t>
            </a:r>
            <a:r>
              <a:rPr lang="en-US" sz="1600" dirty="0">
                <a:solidFill>
                  <a:schemeClr val="tx1"/>
                </a:solidFill>
                <a:latin typeface="Times New Roman"/>
                <a:ea typeface="Times New Roman"/>
              </a:rPr>
              <a:t>(D), </a:t>
            </a:r>
            <a:r>
              <a:rPr lang="en-US" sz="1600" dirty="0" err="1">
                <a:solidFill>
                  <a:schemeClr val="tx1"/>
                </a:solidFill>
                <a:latin typeface="Times New Roman"/>
                <a:ea typeface="Times New Roman"/>
              </a:rPr>
              <a:t>Telangana</a:t>
            </a:r>
            <a:r>
              <a:rPr lang="en-US" sz="1600" dirty="0">
                <a:solidFill>
                  <a:schemeClr val="tx1"/>
                </a:solidFill>
                <a:latin typeface="Times New Roman"/>
                <a:ea typeface="Times New Roman"/>
              </a:rPr>
              <a:t>-</a:t>
            </a:r>
            <a:r>
              <a:rPr lang="en-US" sz="1600" spc="-5" dirty="0">
                <a:solidFill>
                  <a:schemeClr val="tx1"/>
                </a:solidFill>
                <a:latin typeface="Times New Roman"/>
                <a:ea typeface="Times New Roman"/>
              </a:rPr>
              <a:t> </a:t>
            </a:r>
            <a:r>
              <a:rPr lang="en-US" sz="1600" dirty="0">
                <a:solidFill>
                  <a:schemeClr val="tx1"/>
                </a:solidFill>
                <a:latin typeface="Times New Roman"/>
                <a:ea typeface="Times New Roman"/>
              </a:rPr>
              <a:t>501 510</a:t>
            </a:r>
            <a:br>
              <a:rPr lang="en-IN" sz="1600" dirty="0">
                <a:solidFill>
                  <a:schemeClr val="tx1"/>
                </a:solidFill>
                <a:latin typeface="Times New Roman"/>
                <a:ea typeface="Times New Roman"/>
              </a:rPr>
            </a:br>
            <a:br>
              <a:rPr lang="en-IN" sz="1800" dirty="0">
                <a:solidFill>
                  <a:schemeClr val="tx1"/>
                </a:solidFill>
                <a:latin typeface="Times New Roman"/>
                <a:ea typeface="Times New Roman"/>
              </a:rPr>
            </a:br>
            <a:r>
              <a:rPr lang="en-IN" sz="2000" b="1" dirty="0">
                <a:solidFill>
                  <a:schemeClr val="tx1"/>
                </a:solidFill>
                <a:latin typeface="Times New Roman"/>
                <a:ea typeface="Times New Roman"/>
              </a:rPr>
              <a:t>DEPARTMENT OF CSE (DATA SCIENCE)</a:t>
            </a:r>
            <a:br>
              <a:rPr lang="en-IN" sz="2000" b="1" dirty="0">
                <a:solidFill>
                  <a:schemeClr val="tx1"/>
                </a:solidFill>
                <a:latin typeface="Times New Roman"/>
                <a:ea typeface="Times New Roman"/>
              </a:rPr>
            </a:br>
            <a:br>
              <a:rPr lang="en-IN" sz="2000" dirty="0">
                <a:solidFill>
                  <a:schemeClr val="tx1"/>
                </a:solidFill>
                <a:latin typeface="Times New Roman"/>
                <a:ea typeface="Times New Roman"/>
              </a:rPr>
            </a:br>
            <a:r>
              <a:rPr lang="en-IN" sz="2000" b="1" dirty="0" err="1">
                <a:solidFill>
                  <a:schemeClr val="tx1"/>
                </a:solidFill>
                <a:latin typeface="Times New Roman"/>
                <a:ea typeface="Times New Roman"/>
              </a:rPr>
              <a:t>B.Tech</a:t>
            </a:r>
            <a:r>
              <a:rPr lang="en-IN" sz="2000" b="1" dirty="0">
                <a:solidFill>
                  <a:schemeClr val="tx1"/>
                </a:solidFill>
                <a:latin typeface="Times New Roman"/>
                <a:ea typeface="Times New Roman"/>
              </a:rPr>
              <a:t> II Year II Semester</a:t>
            </a:r>
            <a:br>
              <a:rPr lang="en-US" sz="2800" b="1" dirty="0">
                <a:solidFill>
                  <a:schemeClr val="tx1"/>
                </a:solidFill>
              </a:rPr>
            </a:br>
            <a:r>
              <a:rPr lang="en-US" sz="2400" b="1" dirty="0">
                <a:solidFill>
                  <a:schemeClr val="tx1"/>
                </a:solidFill>
              </a:rPr>
              <a:t> </a:t>
            </a:r>
            <a:br>
              <a:rPr lang="en-US" sz="2400" b="1" dirty="0">
                <a:solidFill>
                  <a:schemeClr val="tx1"/>
                </a:solidFill>
              </a:rPr>
            </a:br>
            <a:r>
              <a:rPr lang="en-US" sz="2400" b="1" dirty="0">
                <a:solidFill>
                  <a:schemeClr val="tx1"/>
                </a:solidFill>
                <a:latin typeface="Times New Roman"/>
                <a:ea typeface="Times New Roman"/>
              </a:rPr>
              <a:t>Real-Time/Field - Based Research Project </a:t>
            </a:r>
            <a:r>
              <a:rPr lang="en-US" sz="2400" b="1" dirty="0">
                <a:solidFill>
                  <a:schemeClr val="tx1"/>
                </a:solidFill>
                <a:latin typeface="Times New Roman" pitchFamily="18" charset="0"/>
                <a:cs typeface="Times New Roman" pitchFamily="18" charset="0"/>
              </a:rPr>
              <a:t>Review - I</a:t>
            </a:r>
            <a:endParaRPr lang="en-US" sz="3200" b="1" dirty="0">
              <a:solidFill>
                <a:schemeClr val="tx1"/>
              </a:solidFill>
              <a:latin typeface="Times New Roman" pitchFamily="18" charset="0"/>
              <a:cs typeface="Times New Roman" pitchFamily="18" charset="0"/>
            </a:endParaRPr>
          </a:p>
        </p:txBody>
      </p:sp>
      <p:pic>
        <p:nvPicPr>
          <p:cNvPr id="7" name="Picture 6"/>
          <p:cNvPicPr>
            <a:picLocks noChangeAspect="1"/>
          </p:cNvPicPr>
          <p:nvPr/>
        </p:nvPicPr>
        <p:blipFill>
          <a:blip r:embed="rId2"/>
          <a:stretch>
            <a:fillRect/>
          </a:stretch>
        </p:blipFill>
        <p:spPr>
          <a:xfrm>
            <a:off x="841495" y="1051000"/>
            <a:ext cx="1046019" cy="1030408"/>
          </a:xfrm>
          <a:prstGeom prst="rect">
            <a:avLst/>
          </a:prstGeom>
        </p:spPr>
      </p:pic>
    </p:spTree>
    <p:extLst>
      <p:ext uri="{BB962C8B-B14F-4D97-AF65-F5344CB8AC3E}">
        <p14:creationId xmlns:p14="http://schemas.microsoft.com/office/powerpoint/2010/main" val="1934734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22514"/>
            <a:ext cx="10972800" cy="867747"/>
          </a:xfrm>
        </p:spPr>
        <p:txBody>
          <a:bodyPr>
            <a:normAutofit fontScale="90000"/>
          </a:bodyPr>
          <a:lstStyle/>
          <a:p>
            <a:pPr algn="ctr"/>
            <a:br>
              <a:rPr lang="en-US" sz="4000" dirty="0">
                <a:solidFill>
                  <a:schemeClr val="tx1"/>
                </a:solidFill>
                <a:latin typeface="Times New Roman" panose="02020603050405020304" pitchFamily="18" charset="0"/>
                <a:cs typeface="Times New Roman" panose="02020603050405020304" pitchFamily="18" charset="0"/>
              </a:rPr>
            </a:br>
            <a:br>
              <a:rPr lang="en-US" sz="4000" dirty="0">
                <a:solidFill>
                  <a:schemeClr val="tx1"/>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CLOUD BURST IDENTIFICATION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AND WEATHER ANOMALY ANALYSIS</a:t>
            </a:r>
            <a:endParaRPr lang="en-IN" dirty="0">
              <a:solidFill>
                <a:schemeClr val="tx1"/>
              </a:solidFill>
            </a:endParaRPr>
          </a:p>
        </p:txBody>
      </p:sp>
      <p:sp>
        <p:nvSpPr>
          <p:cNvPr id="5" name="Subtitle 3"/>
          <p:cNvSpPr txBox="1">
            <a:spLocks/>
          </p:cNvSpPr>
          <p:nvPr/>
        </p:nvSpPr>
        <p:spPr>
          <a:xfrm>
            <a:off x="3938066" y="2799184"/>
            <a:ext cx="4315868" cy="2090057"/>
          </a:xfrm>
          <a:prstGeom prst="rect">
            <a:avLst/>
          </a:prstGeom>
        </p:spPr>
        <p:txBody>
          <a:bodyPr vert="horz" bIns="0" anchor="ctr">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ctr">
              <a:buNone/>
            </a:pPr>
            <a:endParaRPr lang="en-US" dirty="0">
              <a:latin typeface="Times New Roman" panose="02020603050405020304" pitchFamily="18" charset="0"/>
              <a:cs typeface="Times New Roman" panose="02020603050405020304" pitchFamily="18" charset="0"/>
            </a:endParaRPr>
          </a:p>
          <a:p>
            <a:pPr marL="109728" indent="0" algn="ctr">
              <a:buNone/>
            </a:pPr>
            <a:r>
              <a:rPr lang="en-US" dirty="0">
                <a:latin typeface="Times New Roman" panose="02020603050405020304" pitchFamily="18" charset="0"/>
                <a:cs typeface="Times New Roman" panose="02020603050405020304" pitchFamily="18" charset="0"/>
              </a:rPr>
              <a:t>By</a:t>
            </a:r>
          </a:p>
          <a:p>
            <a:pPr marL="0" indent="0">
              <a:buNone/>
            </a:pPr>
            <a:r>
              <a:rPr lang="en-US" sz="2400" dirty="0">
                <a:latin typeface="Times New Roman" panose="02020603050405020304" pitchFamily="18" charset="0"/>
                <a:cs typeface="Times New Roman" panose="02020603050405020304" pitchFamily="18" charset="0"/>
              </a:rPr>
              <a:t>     R. Sri Harini (24B81A67H6)                                </a:t>
            </a:r>
          </a:p>
          <a:p>
            <a:pPr marL="0" indent="0">
              <a:buNone/>
            </a:pPr>
            <a:r>
              <a:rPr lang="en-US" sz="2400" dirty="0">
                <a:latin typeface="Times New Roman" panose="02020603050405020304" pitchFamily="18" charset="0"/>
                <a:cs typeface="Times New Roman" panose="02020603050405020304" pitchFamily="18" charset="0"/>
              </a:rPr>
              <a:t>     V. Uday Durga (24B81A67J3)</a:t>
            </a:r>
          </a:p>
          <a:p>
            <a:pPr marL="0" indent="0">
              <a:buNone/>
            </a:pPr>
            <a:r>
              <a:rPr lang="en-US" sz="2400" dirty="0">
                <a:latin typeface="Times New Roman" panose="02020603050405020304" pitchFamily="18" charset="0"/>
                <a:cs typeface="Times New Roman" panose="02020603050405020304" pitchFamily="18" charset="0"/>
              </a:rPr>
              <a:t>     P. Varshini (24B81A67J5)</a:t>
            </a:r>
            <a:endParaRPr lang="en-IN" sz="2400" dirty="0">
              <a:latin typeface="Times New Roman" panose="02020603050405020304" pitchFamily="18" charset="0"/>
              <a:cs typeface="Times New Roman" panose="02020603050405020304" pitchFamily="18" charset="0"/>
            </a:endParaRPr>
          </a:p>
          <a:p>
            <a:pPr marL="109728" indent="0" algn="ctr">
              <a:buNone/>
            </a:pPr>
            <a:endParaRPr lang="en-US" sz="2400" b="1" dirty="0">
              <a:latin typeface="Times New Roman" panose="02020603050405020304" pitchFamily="18" charset="0"/>
              <a:cs typeface="Times New Roman" panose="02020603050405020304" pitchFamily="18" charset="0"/>
            </a:endParaRPr>
          </a:p>
          <a:p>
            <a:pPr marL="109728" indent="0" algn="ctr">
              <a:buNone/>
            </a:pPr>
            <a:r>
              <a:rPr lang="en-US" dirty="0">
                <a:latin typeface="Times New Roman" panose="02020603050405020304" pitchFamily="18" charset="0"/>
                <a:cs typeface="Times New Roman" panose="02020603050405020304" pitchFamily="18" charset="0"/>
              </a:rPr>
              <a:t> </a:t>
            </a:r>
          </a:p>
        </p:txBody>
      </p:sp>
      <p:sp>
        <p:nvSpPr>
          <p:cNvPr id="6" name="Subtitle 3"/>
          <p:cNvSpPr txBox="1">
            <a:spLocks/>
          </p:cNvSpPr>
          <p:nvPr/>
        </p:nvSpPr>
        <p:spPr>
          <a:xfrm>
            <a:off x="1524000" y="4982547"/>
            <a:ext cx="9144000" cy="1566909"/>
          </a:xfrm>
          <a:prstGeom prst="rect">
            <a:avLst/>
          </a:prstGeom>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Under the guidance of</a:t>
            </a:r>
          </a:p>
          <a:p>
            <a:r>
              <a:rPr lang="en-US" dirty="0" err="1">
                <a:latin typeface="Times New Roman" panose="02020603050405020304" pitchFamily="18" charset="0"/>
                <a:cs typeface="Times New Roman" panose="02020603050405020304" pitchFamily="18" charset="0"/>
              </a:rPr>
              <a:t>Dr.Yasmeen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Sr. Assistant Professor</a:t>
            </a:r>
          </a:p>
          <a:p>
            <a:r>
              <a:rPr lang="en-US" dirty="0">
                <a:latin typeface="Times New Roman" panose="02020603050405020304" pitchFamily="18" charset="0"/>
                <a:cs typeface="Times New Roman" panose="02020603050405020304" pitchFamily="18" charset="0"/>
              </a:rPr>
              <a:t>CSE (Data Science)</a:t>
            </a:r>
          </a:p>
        </p:txBody>
      </p:sp>
    </p:spTree>
    <p:extLst>
      <p:ext uri="{BB962C8B-B14F-4D97-AF65-F5344CB8AC3E}">
        <p14:creationId xmlns:p14="http://schemas.microsoft.com/office/powerpoint/2010/main" val="2269829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297" y="1017037"/>
            <a:ext cx="11989837" cy="5337110"/>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Extreme weather like cloud bursts is a huge problem lately. Our project, </a:t>
            </a:r>
            <a:r>
              <a:rPr lang="en-US" sz="2400" b="1" dirty="0">
                <a:latin typeface="Times New Roman" panose="02020603050405020304" pitchFamily="18" charset="0"/>
                <a:cs typeface="Times New Roman" panose="02020603050405020304" pitchFamily="18" charset="0"/>
              </a:rPr>
              <a:t>Cloud Burst Identification and Weather Anomaly Analysis</a:t>
            </a:r>
            <a:r>
              <a:rPr lang="en-US" sz="2400" dirty="0">
                <a:latin typeface="Times New Roman" panose="02020603050405020304" pitchFamily="18" charset="0"/>
                <a:cs typeface="Times New Roman" panose="02020603050405020304" pitchFamily="18" charset="0"/>
              </a:rPr>
              <a:t>, tracks these events using a data-driven approach instead of IoT sensors. We use Python and SQL to monitor rainfall, temperature, and humidity. If rainfall hits a specific threshold, the system flags it as a cloud burst. We’ve also added 7-day trend analysis, heatmaps, and an automatic PDF report generator. Our web dashboard even changes color based on alert levels to make monitoring simple and visual.</a:t>
            </a:r>
          </a:p>
          <a:p>
            <a:pPr marL="0" indent="0">
              <a:buNone/>
            </a:pPr>
            <a:r>
              <a:rPr lang="en-US" sz="2400" b="1" dirty="0">
                <a:latin typeface="Times New Roman" panose="02020603050405020304" pitchFamily="18" charset="0"/>
                <a:cs typeface="Times New Roman" panose="02020603050405020304" pitchFamily="18" charset="0"/>
              </a:rPr>
              <a:t>Keywords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Weather Anomaly:</a:t>
            </a:r>
            <a:r>
              <a:rPr lang="en-US" sz="2400" dirty="0">
                <a:latin typeface="Times New Roman" panose="02020603050405020304" pitchFamily="18" charset="0"/>
                <a:cs typeface="Times New Roman" panose="02020603050405020304" pitchFamily="18" charset="0"/>
              </a:rPr>
              <a:t> Detecting unusual climatic shifts.</a:t>
            </a:r>
          </a:p>
          <a:p>
            <a:r>
              <a:rPr lang="en-US" sz="2400" b="1" dirty="0">
                <a:latin typeface="Times New Roman" panose="02020603050405020304" pitchFamily="18" charset="0"/>
                <a:cs typeface="Times New Roman" panose="02020603050405020304" pitchFamily="18" charset="0"/>
              </a:rPr>
              <a:t>Threshold Identification:</a:t>
            </a:r>
            <a:r>
              <a:rPr lang="en-US" sz="2400" dirty="0">
                <a:latin typeface="Times New Roman" panose="02020603050405020304" pitchFamily="18" charset="0"/>
                <a:cs typeface="Times New Roman" panose="02020603050405020304" pitchFamily="18" charset="0"/>
              </a:rPr>
              <a:t> Spotting cloud bursts via rainfall limits.</a:t>
            </a:r>
          </a:p>
          <a:p>
            <a:r>
              <a:rPr lang="en-US" sz="2400" b="1" dirty="0">
                <a:latin typeface="Times New Roman" panose="02020603050405020304" pitchFamily="18" charset="0"/>
                <a:cs typeface="Times New Roman" panose="02020603050405020304" pitchFamily="18" charset="0"/>
              </a:rPr>
              <a:t>Data Analysis:</a:t>
            </a:r>
            <a:r>
              <a:rPr lang="en-US" sz="2400" dirty="0">
                <a:latin typeface="Times New Roman" panose="02020603050405020304" pitchFamily="18" charset="0"/>
                <a:cs typeface="Times New Roman" panose="02020603050405020304" pitchFamily="18" charset="0"/>
              </a:rPr>
              <a:t> Processing trends using Python &amp; SQL.</a:t>
            </a:r>
          </a:p>
          <a:p>
            <a:r>
              <a:rPr lang="en-US" sz="2400" b="1" dirty="0">
                <a:latin typeface="Times New Roman" panose="02020603050405020304" pitchFamily="18" charset="0"/>
                <a:cs typeface="Times New Roman" panose="02020603050405020304" pitchFamily="18" charset="0"/>
              </a:rPr>
              <a:t>Visualization:</a:t>
            </a:r>
            <a:r>
              <a:rPr lang="en-US" sz="2400" dirty="0">
                <a:latin typeface="Times New Roman" panose="02020603050405020304" pitchFamily="18" charset="0"/>
                <a:cs typeface="Times New Roman" panose="02020603050405020304" pitchFamily="18" charset="0"/>
              </a:rPr>
              <a:t> Heatmaps and automated PDF reporting.</a:t>
            </a:r>
          </a:p>
          <a:p>
            <a:r>
              <a:rPr lang="en-US" sz="2400" b="1" dirty="0">
                <a:latin typeface="Times New Roman" panose="02020603050405020304" pitchFamily="18" charset="0"/>
                <a:cs typeface="Times New Roman" panose="02020603050405020304" pitchFamily="18" charset="0"/>
              </a:rPr>
              <a:t>Risk Zoning:</a:t>
            </a:r>
            <a:r>
              <a:rPr lang="en-US" sz="2400" dirty="0">
                <a:latin typeface="Times New Roman" panose="02020603050405020304" pitchFamily="18" charset="0"/>
                <a:cs typeface="Times New Roman" panose="02020603050405020304" pitchFamily="18" charset="0"/>
              </a:rPr>
              <a:t> Mapping geographical weather risks.</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838200" y="92292"/>
            <a:ext cx="10515600" cy="831440"/>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2457821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53331"/>
            <a:ext cx="10515600" cy="4351338"/>
          </a:xfrm>
        </p:spPr>
        <p:txBody>
          <a:bodyPr>
            <a:noAutofit/>
          </a:bodyPr>
          <a:lstStyle/>
          <a:p>
            <a:pPr algn="just">
              <a:lnSpc>
                <a:spcPct val="150000"/>
              </a:lnSpc>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Our project, </a:t>
            </a:r>
            <a:r>
              <a:rPr lang="en-US" sz="2400" b="1" dirty="0">
                <a:latin typeface="Times New Roman" panose="02020603050405020304" pitchFamily="18" charset="0"/>
                <a:cs typeface="Times New Roman" panose="02020603050405020304" pitchFamily="18" charset="0"/>
              </a:rPr>
              <a:t>Cloud Burst Identification and Weather Anomaly Analysis</a:t>
            </a:r>
            <a:r>
              <a:rPr lang="en-US" sz="2400" dirty="0">
                <a:latin typeface="Times New Roman" panose="02020603050405020304" pitchFamily="18" charset="0"/>
                <a:cs typeface="Times New Roman" panose="02020603050405020304" pitchFamily="18" charset="0"/>
              </a:rPr>
              <a:t>, monitors these events using a simple, data-driven approach. Instead of using expensive sensors or ML, we use Python and SQL to analyze rainfall, temperature, and humidity. By comparing real-time data against historical thresholds, the system detects anomalies instantly. </a:t>
            </a:r>
          </a:p>
          <a:p>
            <a:pPr marL="0" indent="0" algn="just">
              <a:buNone/>
            </a:pPr>
            <a:r>
              <a:rPr lang="en-US" sz="2400" dirty="0">
                <a:latin typeface="Times New Roman" panose="02020603050405020304" pitchFamily="18" charset="0"/>
                <a:cs typeface="Times New Roman" panose="02020603050405020304" pitchFamily="18" charset="0"/>
              </a:rPr>
              <a:t>We will also built a web dashboard with heatmaps and 7-day trends that changes color based on alert levels. It even generates daily PDF reports, making extreme weather tracking easy and accessible for everyone.</a:t>
            </a: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838200" y="92291"/>
            <a:ext cx="10515600" cy="1325563"/>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789120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1CB6CDE-59C1-5C54-67C2-C56C3304619B}"/>
              </a:ext>
            </a:extLst>
          </p:cNvPr>
          <p:cNvGraphicFramePr>
            <a:graphicFrameLocks noGrp="1"/>
          </p:cNvGraphicFramePr>
          <p:nvPr>
            <p:ph idx="1"/>
            <p:extLst>
              <p:ext uri="{D42A27DB-BD31-4B8C-83A1-F6EECF244321}">
                <p14:modId xmlns:p14="http://schemas.microsoft.com/office/powerpoint/2010/main" val="3836090101"/>
              </p:ext>
            </p:extLst>
          </p:nvPr>
        </p:nvGraphicFramePr>
        <p:xfrm>
          <a:off x="2090056" y="1045029"/>
          <a:ext cx="8686800" cy="5234471"/>
        </p:xfrm>
        <a:graphic>
          <a:graphicData uri="http://schemas.openxmlformats.org/drawingml/2006/table">
            <a:tbl>
              <a:tblPr/>
              <a:tblGrid>
                <a:gridCol w="2171700">
                  <a:extLst>
                    <a:ext uri="{9D8B030D-6E8A-4147-A177-3AD203B41FA5}">
                      <a16:colId xmlns:a16="http://schemas.microsoft.com/office/drawing/2014/main" val="130499408"/>
                    </a:ext>
                  </a:extLst>
                </a:gridCol>
                <a:gridCol w="2171700">
                  <a:extLst>
                    <a:ext uri="{9D8B030D-6E8A-4147-A177-3AD203B41FA5}">
                      <a16:colId xmlns:a16="http://schemas.microsoft.com/office/drawing/2014/main" val="3420921352"/>
                    </a:ext>
                  </a:extLst>
                </a:gridCol>
                <a:gridCol w="2171700">
                  <a:extLst>
                    <a:ext uri="{9D8B030D-6E8A-4147-A177-3AD203B41FA5}">
                      <a16:colId xmlns:a16="http://schemas.microsoft.com/office/drawing/2014/main" val="3043069496"/>
                    </a:ext>
                  </a:extLst>
                </a:gridCol>
                <a:gridCol w="2171700">
                  <a:extLst>
                    <a:ext uri="{9D8B030D-6E8A-4147-A177-3AD203B41FA5}">
                      <a16:colId xmlns:a16="http://schemas.microsoft.com/office/drawing/2014/main" val="1705354875"/>
                    </a:ext>
                  </a:extLst>
                </a:gridCol>
              </a:tblGrid>
              <a:tr h="225544">
                <a:tc>
                  <a:txBody>
                    <a:bodyPr/>
                    <a:lstStyle/>
                    <a:p>
                      <a:pPr>
                        <a:buNone/>
                      </a:pPr>
                      <a:r>
                        <a:rPr lang="en-IN" sz="1000"/>
                        <a:t>S.No</a:t>
                      </a:r>
                    </a:p>
                  </a:txBody>
                  <a:tcPr marL="50034" marR="50034" marT="25017" marB="25017" anchor="ctr">
                    <a:lnL>
                      <a:noFill/>
                    </a:lnL>
                    <a:lnR>
                      <a:noFill/>
                    </a:lnR>
                    <a:lnT>
                      <a:noFill/>
                    </a:lnT>
                    <a:lnB>
                      <a:noFill/>
                    </a:lnB>
                    <a:noFill/>
                  </a:tcPr>
                </a:tc>
                <a:tc>
                  <a:txBody>
                    <a:bodyPr/>
                    <a:lstStyle/>
                    <a:p>
                      <a:pPr>
                        <a:buNone/>
                      </a:pPr>
                      <a:r>
                        <a:rPr lang="en-IN" sz="1000"/>
                        <a:t>Author/Year</a:t>
                      </a:r>
                    </a:p>
                  </a:txBody>
                  <a:tcPr marL="50034" marR="50034" marT="25017" marB="25017" anchor="ctr">
                    <a:lnL>
                      <a:noFill/>
                    </a:lnL>
                    <a:lnR>
                      <a:noFill/>
                    </a:lnR>
                    <a:lnT>
                      <a:noFill/>
                    </a:lnT>
                    <a:lnB>
                      <a:noFill/>
                    </a:lnB>
                    <a:noFill/>
                  </a:tcPr>
                </a:tc>
                <a:tc>
                  <a:txBody>
                    <a:bodyPr/>
                    <a:lstStyle/>
                    <a:p>
                      <a:pPr>
                        <a:buNone/>
                      </a:pPr>
                      <a:r>
                        <a:rPr lang="en-IN" sz="1000" dirty="0"/>
                        <a:t>Focus Area</a:t>
                      </a:r>
                    </a:p>
                  </a:txBody>
                  <a:tcPr marL="50034" marR="50034" marT="25017" marB="25017" anchor="ctr">
                    <a:lnL>
                      <a:noFill/>
                    </a:lnL>
                    <a:lnR>
                      <a:noFill/>
                    </a:lnR>
                    <a:lnT>
                      <a:noFill/>
                    </a:lnT>
                    <a:lnB>
                      <a:noFill/>
                    </a:lnB>
                    <a:noFill/>
                  </a:tcPr>
                </a:tc>
                <a:tc>
                  <a:txBody>
                    <a:bodyPr/>
                    <a:lstStyle/>
                    <a:p>
                      <a:pPr>
                        <a:buNone/>
                      </a:pPr>
                      <a:r>
                        <a:rPr lang="en-IN" sz="1000"/>
                        <a:t>Key Idea</a:t>
                      </a:r>
                    </a:p>
                  </a:txBody>
                  <a:tcPr marL="50034" marR="50034" marT="25017" marB="25017" anchor="ctr">
                    <a:lnL>
                      <a:noFill/>
                    </a:lnL>
                    <a:lnR>
                      <a:noFill/>
                    </a:lnR>
                    <a:lnT>
                      <a:noFill/>
                    </a:lnT>
                    <a:lnB>
                      <a:noFill/>
                    </a:lnB>
                    <a:noFill/>
                  </a:tcPr>
                </a:tc>
                <a:extLst>
                  <a:ext uri="{0D108BD9-81ED-4DB2-BD59-A6C34878D82A}">
                    <a16:rowId xmlns:a16="http://schemas.microsoft.com/office/drawing/2014/main" val="2746507089"/>
                  </a:ext>
                </a:extLst>
              </a:tr>
              <a:tr h="565139">
                <a:tc>
                  <a:txBody>
                    <a:bodyPr/>
                    <a:lstStyle/>
                    <a:p>
                      <a:pPr>
                        <a:buNone/>
                      </a:pPr>
                      <a:r>
                        <a:rPr lang="en-IN" sz="1000"/>
                        <a:t>1</a:t>
                      </a:r>
                    </a:p>
                  </a:txBody>
                  <a:tcPr marL="50034" marR="50034" marT="25017" marB="25017" anchor="ctr">
                    <a:lnL>
                      <a:noFill/>
                    </a:lnL>
                    <a:lnR>
                      <a:noFill/>
                    </a:lnR>
                    <a:lnT>
                      <a:noFill/>
                    </a:lnT>
                    <a:lnB>
                      <a:noFill/>
                    </a:lnB>
                    <a:noFill/>
                  </a:tcPr>
                </a:tc>
                <a:tc>
                  <a:txBody>
                    <a:bodyPr/>
                    <a:lstStyle/>
                    <a:p>
                      <a:pPr>
                        <a:buNone/>
                      </a:pPr>
                      <a:r>
                        <a:rPr lang="en-IN" sz="1000"/>
                        <a:t>Sharma et al. (2023)</a:t>
                      </a:r>
                    </a:p>
                  </a:txBody>
                  <a:tcPr marL="50034" marR="50034" marT="25017" marB="25017" anchor="ctr">
                    <a:lnL>
                      <a:noFill/>
                    </a:lnL>
                    <a:lnR>
                      <a:noFill/>
                    </a:lnR>
                    <a:lnT>
                      <a:noFill/>
                    </a:lnT>
                    <a:lnB>
                      <a:noFill/>
                    </a:lnB>
                    <a:noFill/>
                  </a:tcPr>
                </a:tc>
                <a:tc>
                  <a:txBody>
                    <a:bodyPr/>
                    <a:lstStyle/>
                    <a:p>
                      <a:pPr>
                        <a:buNone/>
                      </a:pPr>
                      <a:r>
                        <a:rPr lang="en-IN" sz="1000"/>
                        <a:t>Cloudburst Prediction (AI)</a:t>
                      </a:r>
                    </a:p>
                  </a:txBody>
                  <a:tcPr marL="50034" marR="50034" marT="25017" marB="25017" anchor="ctr">
                    <a:lnL>
                      <a:noFill/>
                    </a:lnL>
                    <a:lnR>
                      <a:noFill/>
                    </a:lnR>
                    <a:lnT>
                      <a:noFill/>
                    </a:lnT>
                    <a:lnB>
                      <a:noFill/>
                    </a:lnB>
                    <a:noFill/>
                  </a:tcPr>
                </a:tc>
                <a:tc>
                  <a:txBody>
                    <a:bodyPr/>
                    <a:lstStyle/>
                    <a:p>
                      <a:pPr>
                        <a:buNone/>
                      </a:pPr>
                      <a:r>
                        <a:rPr lang="en-US" sz="1000"/>
                        <a:t>Uses ML with satellite data to predict cloudburst events.</a:t>
                      </a:r>
                    </a:p>
                  </a:txBody>
                  <a:tcPr marL="50034" marR="50034" marT="25017" marB="25017" anchor="ctr">
                    <a:lnL>
                      <a:noFill/>
                    </a:lnL>
                    <a:lnR>
                      <a:noFill/>
                    </a:lnR>
                    <a:lnT>
                      <a:noFill/>
                    </a:lnT>
                    <a:lnB>
                      <a:noFill/>
                    </a:lnB>
                    <a:noFill/>
                  </a:tcPr>
                </a:tc>
                <a:extLst>
                  <a:ext uri="{0D108BD9-81ED-4DB2-BD59-A6C34878D82A}">
                    <a16:rowId xmlns:a16="http://schemas.microsoft.com/office/drawing/2014/main" val="3776608894"/>
                  </a:ext>
                </a:extLst>
              </a:tr>
              <a:tr h="883156">
                <a:tc>
                  <a:txBody>
                    <a:bodyPr/>
                    <a:lstStyle/>
                    <a:p>
                      <a:pPr>
                        <a:buNone/>
                      </a:pPr>
                      <a:r>
                        <a:rPr lang="en-IN" sz="1000" dirty="0"/>
                        <a:t>2</a:t>
                      </a:r>
                    </a:p>
                  </a:txBody>
                  <a:tcPr marL="50034" marR="50034" marT="25017" marB="25017" anchor="ctr">
                    <a:lnL>
                      <a:noFill/>
                    </a:lnL>
                    <a:lnR>
                      <a:noFill/>
                    </a:lnR>
                    <a:lnT>
                      <a:noFill/>
                    </a:lnT>
                    <a:lnB>
                      <a:noFill/>
                    </a:lnB>
                    <a:noFill/>
                  </a:tcPr>
                </a:tc>
                <a:tc>
                  <a:txBody>
                    <a:bodyPr/>
                    <a:lstStyle/>
                    <a:p>
                      <a:pPr>
                        <a:buNone/>
                      </a:pPr>
                      <a:r>
                        <a:rPr lang="en-IN" sz="1000" dirty="0"/>
                        <a:t>Reddy et al. (2022)</a:t>
                      </a:r>
                    </a:p>
                  </a:txBody>
                  <a:tcPr marL="50034" marR="50034" marT="25017" marB="25017" anchor="ctr">
                    <a:lnL>
                      <a:noFill/>
                    </a:lnL>
                    <a:lnR>
                      <a:noFill/>
                    </a:lnR>
                    <a:lnT>
                      <a:noFill/>
                    </a:lnT>
                    <a:lnB>
                      <a:noFill/>
                    </a:lnB>
                    <a:noFill/>
                  </a:tcPr>
                </a:tc>
                <a:tc>
                  <a:txBody>
                    <a:bodyPr/>
                    <a:lstStyle/>
                    <a:p>
                      <a:pPr>
                        <a:buNone/>
                      </a:pPr>
                      <a:r>
                        <a:rPr lang="en-IN" sz="1000"/>
                        <a:t>Hybrid ML Models</a:t>
                      </a:r>
                    </a:p>
                  </a:txBody>
                  <a:tcPr marL="50034" marR="50034" marT="25017" marB="25017" anchor="ctr">
                    <a:lnL>
                      <a:noFill/>
                    </a:lnL>
                    <a:lnR>
                      <a:noFill/>
                    </a:lnR>
                    <a:lnT>
                      <a:noFill/>
                    </a:lnT>
                    <a:lnB>
                      <a:noFill/>
                    </a:lnB>
                    <a:noFill/>
                  </a:tcPr>
                </a:tc>
                <a:tc>
                  <a:txBody>
                    <a:bodyPr/>
                    <a:lstStyle/>
                    <a:p>
                      <a:pPr>
                        <a:buNone/>
                      </a:pPr>
                      <a:r>
                        <a:rPr lang="en-IN" sz="1000"/>
                        <a:t>Combines Random Forest &amp; LSTM for better rainfall prediction.</a:t>
                      </a:r>
                    </a:p>
                  </a:txBody>
                  <a:tcPr marL="50034" marR="50034" marT="25017" marB="25017" anchor="ctr">
                    <a:lnL>
                      <a:noFill/>
                    </a:lnL>
                    <a:lnR>
                      <a:noFill/>
                    </a:lnR>
                    <a:lnT>
                      <a:noFill/>
                    </a:lnT>
                    <a:lnB>
                      <a:noFill/>
                    </a:lnB>
                    <a:noFill/>
                  </a:tcPr>
                </a:tc>
                <a:extLst>
                  <a:ext uri="{0D108BD9-81ED-4DB2-BD59-A6C34878D82A}">
                    <a16:rowId xmlns:a16="http://schemas.microsoft.com/office/drawing/2014/main" val="3356677523"/>
                  </a:ext>
                </a:extLst>
              </a:tr>
              <a:tr h="734937">
                <a:tc>
                  <a:txBody>
                    <a:bodyPr/>
                    <a:lstStyle/>
                    <a:p>
                      <a:pPr>
                        <a:buNone/>
                      </a:pPr>
                      <a:r>
                        <a:rPr lang="en-IN" sz="1000" dirty="0"/>
                        <a:t>3</a:t>
                      </a:r>
                    </a:p>
                  </a:txBody>
                  <a:tcPr marL="50034" marR="50034" marT="25017" marB="25017" anchor="ctr">
                    <a:lnL>
                      <a:noFill/>
                    </a:lnL>
                    <a:lnR>
                      <a:noFill/>
                    </a:lnR>
                    <a:lnT>
                      <a:noFill/>
                    </a:lnT>
                    <a:lnB>
                      <a:noFill/>
                    </a:lnB>
                    <a:noFill/>
                  </a:tcPr>
                </a:tc>
                <a:tc>
                  <a:txBody>
                    <a:bodyPr/>
                    <a:lstStyle/>
                    <a:p>
                      <a:pPr>
                        <a:buNone/>
                      </a:pPr>
                      <a:r>
                        <a:rPr lang="en-IN" sz="1000"/>
                        <a:t>Kumar et al. (2021)</a:t>
                      </a:r>
                    </a:p>
                  </a:txBody>
                  <a:tcPr marL="50034" marR="50034" marT="25017" marB="25017" anchor="ctr">
                    <a:lnL>
                      <a:noFill/>
                    </a:lnL>
                    <a:lnR>
                      <a:noFill/>
                    </a:lnR>
                    <a:lnT>
                      <a:noFill/>
                    </a:lnT>
                    <a:lnB>
                      <a:noFill/>
                    </a:lnB>
                    <a:noFill/>
                  </a:tcPr>
                </a:tc>
                <a:tc>
                  <a:txBody>
                    <a:bodyPr/>
                    <a:lstStyle/>
                    <a:p>
                      <a:pPr>
                        <a:buNone/>
                      </a:pPr>
                      <a:r>
                        <a:rPr lang="en-IN" sz="1000"/>
                        <a:t>Weather Anomaly Detection</a:t>
                      </a:r>
                    </a:p>
                  </a:txBody>
                  <a:tcPr marL="50034" marR="50034" marT="25017" marB="25017" anchor="ctr">
                    <a:lnL>
                      <a:noFill/>
                    </a:lnL>
                    <a:lnR>
                      <a:noFill/>
                    </a:lnR>
                    <a:lnT>
                      <a:noFill/>
                    </a:lnT>
                    <a:lnB>
                      <a:noFill/>
                    </a:lnB>
                    <a:noFill/>
                  </a:tcPr>
                </a:tc>
                <a:tc>
                  <a:txBody>
                    <a:bodyPr/>
                    <a:lstStyle/>
                    <a:p>
                      <a:pPr>
                        <a:buNone/>
                      </a:pPr>
                      <a:r>
                        <a:rPr lang="en-US" sz="1000" dirty="0"/>
                        <a:t>Detects unusual weather patterns using time-series data.</a:t>
                      </a:r>
                    </a:p>
                  </a:txBody>
                  <a:tcPr marL="50034" marR="50034" marT="25017" marB="25017" anchor="ctr">
                    <a:lnL>
                      <a:noFill/>
                    </a:lnL>
                    <a:lnR>
                      <a:noFill/>
                    </a:lnR>
                    <a:lnT>
                      <a:noFill/>
                    </a:lnT>
                    <a:lnB>
                      <a:noFill/>
                    </a:lnB>
                    <a:noFill/>
                  </a:tcPr>
                </a:tc>
                <a:extLst>
                  <a:ext uri="{0D108BD9-81ED-4DB2-BD59-A6C34878D82A}">
                    <a16:rowId xmlns:a16="http://schemas.microsoft.com/office/drawing/2014/main" val="2833447978"/>
                  </a:ext>
                </a:extLst>
              </a:tr>
              <a:tr h="565139">
                <a:tc>
                  <a:txBody>
                    <a:bodyPr/>
                    <a:lstStyle/>
                    <a:p>
                      <a:pPr>
                        <a:buNone/>
                      </a:pPr>
                      <a:r>
                        <a:rPr lang="en-IN" sz="1000"/>
                        <a:t>4</a:t>
                      </a:r>
                    </a:p>
                  </a:txBody>
                  <a:tcPr marL="50034" marR="50034" marT="25017" marB="25017" anchor="ctr">
                    <a:lnL>
                      <a:noFill/>
                    </a:lnL>
                    <a:lnR>
                      <a:noFill/>
                    </a:lnR>
                    <a:lnT>
                      <a:noFill/>
                    </a:lnT>
                    <a:lnB>
                      <a:noFill/>
                    </a:lnB>
                    <a:noFill/>
                  </a:tcPr>
                </a:tc>
                <a:tc>
                  <a:txBody>
                    <a:bodyPr/>
                    <a:lstStyle/>
                    <a:p>
                      <a:pPr>
                        <a:buNone/>
                      </a:pPr>
                      <a:r>
                        <a:rPr lang="en-IN" sz="1000" dirty="0"/>
                        <a:t>Singh et al. (2020)</a:t>
                      </a:r>
                    </a:p>
                  </a:txBody>
                  <a:tcPr marL="50034" marR="50034" marT="25017" marB="25017" anchor="ctr">
                    <a:lnL>
                      <a:noFill/>
                    </a:lnL>
                    <a:lnR>
                      <a:noFill/>
                    </a:lnR>
                    <a:lnT>
                      <a:noFill/>
                    </a:lnT>
                    <a:lnB>
                      <a:noFill/>
                    </a:lnB>
                    <a:noFill/>
                  </a:tcPr>
                </a:tc>
                <a:tc>
                  <a:txBody>
                    <a:bodyPr/>
                    <a:lstStyle/>
                    <a:p>
                      <a:pPr>
                        <a:buNone/>
                      </a:pPr>
                      <a:r>
                        <a:rPr lang="en-IN" sz="1000" dirty="0"/>
                        <a:t>IoT Weather Monitoring</a:t>
                      </a:r>
                    </a:p>
                  </a:txBody>
                  <a:tcPr marL="50034" marR="50034" marT="25017" marB="25017" anchor="ctr">
                    <a:lnL>
                      <a:noFill/>
                    </a:lnL>
                    <a:lnR>
                      <a:noFill/>
                    </a:lnR>
                    <a:lnT>
                      <a:noFill/>
                    </a:lnT>
                    <a:lnB>
                      <a:noFill/>
                    </a:lnB>
                    <a:noFill/>
                  </a:tcPr>
                </a:tc>
                <a:tc>
                  <a:txBody>
                    <a:bodyPr/>
                    <a:lstStyle/>
                    <a:p>
                      <a:pPr>
                        <a:buNone/>
                      </a:pPr>
                      <a:r>
                        <a:rPr lang="en-US" sz="1000"/>
                        <a:t>Collects real-time temperature &amp; humidity data.</a:t>
                      </a:r>
                    </a:p>
                  </a:txBody>
                  <a:tcPr marL="50034" marR="50034" marT="25017" marB="25017" anchor="ctr">
                    <a:lnL>
                      <a:noFill/>
                    </a:lnL>
                    <a:lnR>
                      <a:noFill/>
                    </a:lnR>
                    <a:lnT>
                      <a:noFill/>
                    </a:lnT>
                    <a:lnB>
                      <a:noFill/>
                    </a:lnB>
                    <a:noFill/>
                  </a:tcPr>
                </a:tc>
                <a:extLst>
                  <a:ext uri="{0D108BD9-81ED-4DB2-BD59-A6C34878D82A}">
                    <a16:rowId xmlns:a16="http://schemas.microsoft.com/office/drawing/2014/main" val="3836241176"/>
                  </a:ext>
                </a:extLst>
              </a:tr>
              <a:tr h="565139">
                <a:tc>
                  <a:txBody>
                    <a:bodyPr/>
                    <a:lstStyle/>
                    <a:p>
                      <a:pPr>
                        <a:buNone/>
                      </a:pPr>
                      <a:r>
                        <a:rPr lang="en-IN" sz="1000"/>
                        <a:t>5</a:t>
                      </a:r>
                    </a:p>
                  </a:txBody>
                  <a:tcPr marL="50034" marR="50034" marT="25017" marB="25017" anchor="ctr">
                    <a:lnL>
                      <a:noFill/>
                    </a:lnL>
                    <a:lnR>
                      <a:noFill/>
                    </a:lnR>
                    <a:lnT>
                      <a:noFill/>
                    </a:lnT>
                    <a:lnB>
                      <a:noFill/>
                    </a:lnB>
                    <a:noFill/>
                  </a:tcPr>
                </a:tc>
                <a:tc>
                  <a:txBody>
                    <a:bodyPr/>
                    <a:lstStyle/>
                    <a:p>
                      <a:pPr>
                        <a:buNone/>
                      </a:pPr>
                      <a:r>
                        <a:rPr lang="en-IN" sz="1000"/>
                        <a:t>Patel et al. (2023)</a:t>
                      </a:r>
                    </a:p>
                  </a:txBody>
                  <a:tcPr marL="50034" marR="50034" marT="25017" marB="25017" anchor="ctr">
                    <a:lnL>
                      <a:noFill/>
                    </a:lnL>
                    <a:lnR>
                      <a:noFill/>
                    </a:lnR>
                    <a:lnT>
                      <a:noFill/>
                    </a:lnT>
                    <a:lnB>
                      <a:noFill/>
                    </a:lnB>
                    <a:noFill/>
                  </a:tcPr>
                </a:tc>
                <a:tc>
                  <a:txBody>
                    <a:bodyPr/>
                    <a:lstStyle/>
                    <a:p>
                      <a:pPr>
                        <a:buNone/>
                      </a:pPr>
                      <a:r>
                        <a:rPr lang="en-IN" sz="1000" dirty="0"/>
                        <a:t>Deep Learning Models</a:t>
                      </a:r>
                    </a:p>
                  </a:txBody>
                  <a:tcPr marL="50034" marR="50034" marT="25017" marB="25017" anchor="ctr">
                    <a:lnL>
                      <a:noFill/>
                    </a:lnL>
                    <a:lnR>
                      <a:noFill/>
                    </a:lnR>
                    <a:lnT>
                      <a:noFill/>
                    </a:lnT>
                    <a:lnB>
                      <a:noFill/>
                    </a:lnB>
                    <a:noFill/>
                  </a:tcPr>
                </a:tc>
                <a:tc>
                  <a:txBody>
                    <a:bodyPr/>
                    <a:lstStyle/>
                    <a:p>
                      <a:pPr>
                        <a:buNone/>
                      </a:pPr>
                      <a:r>
                        <a:rPr lang="en-US" sz="1000"/>
                        <a:t>Uses CNN &amp; LSTM for large weather datasets.</a:t>
                      </a:r>
                    </a:p>
                  </a:txBody>
                  <a:tcPr marL="50034" marR="50034" marT="25017" marB="25017" anchor="ctr">
                    <a:lnL>
                      <a:noFill/>
                    </a:lnL>
                    <a:lnR>
                      <a:noFill/>
                    </a:lnR>
                    <a:lnT>
                      <a:noFill/>
                    </a:lnT>
                    <a:lnB>
                      <a:noFill/>
                    </a:lnB>
                    <a:noFill/>
                  </a:tcPr>
                </a:tc>
                <a:extLst>
                  <a:ext uri="{0D108BD9-81ED-4DB2-BD59-A6C34878D82A}">
                    <a16:rowId xmlns:a16="http://schemas.microsoft.com/office/drawing/2014/main" val="2458543894"/>
                  </a:ext>
                </a:extLst>
              </a:tr>
              <a:tr h="565139">
                <a:tc>
                  <a:txBody>
                    <a:bodyPr/>
                    <a:lstStyle/>
                    <a:p>
                      <a:pPr>
                        <a:buNone/>
                      </a:pPr>
                      <a:r>
                        <a:rPr lang="en-IN" sz="1000"/>
                        <a:t>6</a:t>
                      </a:r>
                    </a:p>
                  </a:txBody>
                  <a:tcPr marL="50034" marR="50034" marT="25017" marB="25017" anchor="ctr">
                    <a:lnL>
                      <a:noFill/>
                    </a:lnL>
                    <a:lnR>
                      <a:noFill/>
                    </a:lnR>
                    <a:lnT>
                      <a:noFill/>
                    </a:lnT>
                    <a:lnB>
                      <a:noFill/>
                    </a:lnB>
                    <a:noFill/>
                  </a:tcPr>
                </a:tc>
                <a:tc>
                  <a:txBody>
                    <a:bodyPr/>
                    <a:lstStyle/>
                    <a:p>
                      <a:pPr>
                        <a:buNone/>
                      </a:pPr>
                      <a:r>
                        <a:rPr lang="en-IN" sz="1000"/>
                        <a:t>Verma et al. (2022)</a:t>
                      </a:r>
                    </a:p>
                  </a:txBody>
                  <a:tcPr marL="50034" marR="50034" marT="25017" marB="25017" anchor="ctr">
                    <a:lnL>
                      <a:noFill/>
                    </a:lnL>
                    <a:lnR>
                      <a:noFill/>
                    </a:lnR>
                    <a:lnT>
                      <a:noFill/>
                    </a:lnT>
                    <a:lnB>
                      <a:noFill/>
                    </a:lnB>
                    <a:noFill/>
                  </a:tcPr>
                </a:tc>
                <a:tc>
                  <a:txBody>
                    <a:bodyPr/>
                    <a:lstStyle/>
                    <a:p>
                      <a:pPr>
                        <a:buNone/>
                      </a:pPr>
                      <a:r>
                        <a:rPr lang="en-IN" sz="1000" dirty="0"/>
                        <a:t>Remote Sensing</a:t>
                      </a:r>
                    </a:p>
                  </a:txBody>
                  <a:tcPr marL="50034" marR="50034" marT="25017" marB="25017" anchor="ctr">
                    <a:lnL>
                      <a:noFill/>
                    </a:lnL>
                    <a:lnR>
                      <a:noFill/>
                    </a:lnR>
                    <a:lnT>
                      <a:noFill/>
                    </a:lnT>
                    <a:lnB>
                      <a:noFill/>
                    </a:lnB>
                    <a:noFill/>
                  </a:tcPr>
                </a:tc>
                <a:tc>
                  <a:txBody>
                    <a:bodyPr/>
                    <a:lstStyle/>
                    <a:p>
                      <a:pPr>
                        <a:buNone/>
                      </a:pPr>
                      <a:r>
                        <a:rPr lang="en-IN" sz="1000"/>
                        <a:t>Analyzes satellite images for rainfall conditions.</a:t>
                      </a:r>
                    </a:p>
                  </a:txBody>
                  <a:tcPr marL="50034" marR="50034" marT="25017" marB="25017" anchor="ctr">
                    <a:lnL>
                      <a:noFill/>
                    </a:lnL>
                    <a:lnR>
                      <a:noFill/>
                    </a:lnR>
                    <a:lnT>
                      <a:noFill/>
                    </a:lnT>
                    <a:lnB>
                      <a:noFill/>
                    </a:lnB>
                    <a:noFill/>
                  </a:tcPr>
                </a:tc>
                <a:extLst>
                  <a:ext uri="{0D108BD9-81ED-4DB2-BD59-A6C34878D82A}">
                    <a16:rowId xmlns:a16="http://schemas.microsoft.com/office/drawing/2014/main" val="1606627587"/>
                  </a:ext>
                </a:extLst>
              </a:tr>
              <a:tr h="565139">
                <a:tc>
                  <a:txBody>
                    <a:bodyPr/>
                    <a:lstStyle/>
                    <a:p>
                      <a:pPr>
                        <a:buNone/>
                      </a:pPr>
                      <a:r>
                        <a:rPr lang="en-IN" sz="1000"/>
                        <a:t>7</a:t>
                      </a:r>
                    </a:p>
                  </a:txBody>
                  <a:tcPr marL="50034" marR="50034" marT="25017" marB="25017" anchor="ctr">
                    <a:lnL>
                      <a:noFill/>
                    </a:lnL>
                    <a:lnR>
                      <a:noFill/>
                    </a:lnR>
                    <a:lnT>
                      <a:noFill/>
                    </a:lnT>
                    <a:lnB>
                      <a:noFill/>
                    </a:lnB>
                    <a:noFill/>
                  </a:tcPr>
                </a:tc>
                <a:tc>
                  <a:txBody>
                    <a:bodyPr/>
                    <a:lstStyle/>
                    <a:p>
                      <a:pPr>
                        <a:buNone/>
                      </a:pPr>
                      <a:r>
                        <a:rPr lang="en-IN" sz="1000"/>
                        <a:t>Gupta et al. (2021)</a:t>
                      </a:r>
                    </a:p>
                  </a:txBody>
                  <a:tcPr marL="50034" marR="50034" marT="25017" marB="25017" anchor="ctr">
                    <a:lnL>
                      <a:noFill/>
                    </a:lnL>
                    <a:lnR>
                      <a:noFill/>
                    </a:lnR>
                    <a:lnT>
                      <a:noFill/>
                    </a:lnT>
                    <a:lnB>
                      <a:noFill/>
                    </a:lnB>
                    <a:noFill/>
                  </a:tcPr>
                </a:tc>
                <a:tc>
                  <a:txBody>
                    <a:bodyPr/>
                    <a:lstStyle/>
                    <a:p>
                      <a:pPr>
                        <a:buNone/>
                      </a:pPr>
                      <a:r>
                        <a:rPr lang="en-IN" sz="1000"/>
                        <a:t>Anomaly Detection</a:t>
                      </a:r>
                    </a:p>
                  </a:txBody>
                  <a:tcPr marL="50034" marR="50034" marT="25017" marB="25017" anchor="ctr">
                    <a:lnL>
                      <a:noFill/>
                    </a:lnL>
                    <a:lnR>
                      <a:noFill/>
                    </a:lnR>
                    <a:lnT>
                      <a:noFill/>
                    </a:lnT>
                    <a:lnB>
                      <a:noFill/>
                    </a:lnB>
                    <a:noFill/>
                  </a:tcPr>
                </a:tc>
                <a:tc>
                  <a:txBody>
                    <a:bodyPr/>
                    <a:lstStyle/>
                    <a:p>
                      <a:pPr>
                        <a:buNone/>
                      </a:pPr>
                      <a:r>
                        <a:rPr lang="en-US" sz="1000"/>
                        <a:t>Uses Isolation Forest &amp; SVM for abnormal weather detection.</a:t>
                      </a:r>
                    </a:p>
                  </a:txBody>
                  <a:tcPr marL="50034" marR="50034" marT="25017" marB="25017" anchor="ctr">
                    <a:lnL>
                      <a:noFill/>
                    </a:lnL>
                    <a:lnR>
                      <a:noFill/>
                    </a:lnR>
                    <a:lnT>
                      <a:noFill/>
                    </a:lnT>
                    <a:lnB>
                      <a:noFill/>
                    </a:lnB>
                    <a:noFill/>
                  </a:tcPr>
                </a:tc>
                <a:extLst>
                  <a:ext uri="{0D108BD9-81ED-4DB2-BD59-A6C34878D82A}">
                    <a16:rowId xmlns:a16="http://schemas.microsoft.com/office/drawing/2014/main" val="2880502328"/>
                  </a:ext>
                </a:extLst>
              </a:tr>
              <a:tr h="565139">
                <a:tc>
                  <a:txBody>
                    <a:bodyPr/>
                    <a:lstStyle/>
                    <a:p>
                      <a:pPr>
                        <a:buNone/>
                      </a:pPr>
                      <a:r>
                        <a:rPr lang="en-IN" sz="1000"/>
                        <a:t>8</a:t>
                      </a:r>
                    </a:p>
                  </a:txBody>
                  <a:tcPr marL="50034" marR="50034" marT="25017" marB="25017" anchor="ctr">
                    <a:lnL>
                      <a:noFill/>
                    </a:lnL>
                    <a:lnR>
                      <a:noFill/>
                    </a:lnR>
                    <a:lnT>
                      <a:noFill/>
                    </a:lnT>
                    <a:lnB>
                      <a:noFill/>
                    </a:lnB>
                    <a:noFill/>
                  </a:tcPr>
                </a:tc>
                <a:tc>
                  <a:txBody>
                    <a:bodyPr/>
                    <a:lstStyle/>
                    <a:p>
                      <a:pPr>
                        <a:buNone/>
                      </a:pPr>
                      <a:r>
                        <a:rPr lang="en-IN" sz="1000"/>
                        <a:t>Das et al. (2024)</a:t>
                      </a:r>
                    </a:p>
                  </a:txBody>
                  <a:tcPr marL="50034" marR="50034" marT="25017" marB="25017" anchor="ctr">
                    <a:lnL>
                      <a:noFill/>
                    </a:lnL>
                    <a:lnR>
                      <a:noFill/>
                    </a:lnR>
                    <a:lnT>
                      <a:noFill/>
                    </a:lnT>
                    <a:lnB>
                      <a:noFill/>
                    </a:lnB>
                    <a:noFill/>
                  </a:tcPr>
                </a:tc>
                <a:tc>
                  <a:txBody>
                    <a:bodyPr/>
                    <a:lstStyle/>
                    <a:p>
                      <a:pPr>
                        <a:buNone/>
                      </a:pPr>
                      <a:r>
                        <a:rPr lang="en-IN" sz="1000"/>
                        <a:t>Real-Time Alerts</a:t>
                      </a:r>
                    </a:p>
                  </a:txBody>
                  <a:tcPr marL="50034" marR="50034" marT="25017" marB="25017" anchor="ctr">
                    <a:lnL>
                      <a:noFill/>
                    </a:lnL>
                    <a:lnR>
                      <a:noFill/>
                    </a:lnR>
                    <a:lnT>
                      <a:noFill/>
                    </a:lnT>
                    <a:lnB>
                      <a:noFill/>
                    </a:lnB>
                    <a:noFill/>
                  </a:tcPr>
                </a:tc>
                <a:tc>
                  <a:txBody>
                    <a:bodyPr/>
                    <a:lstStyle/>
                    <a:p>
                      <a:pPr>
                        <a:buNone/>
                      </a:pPr>
                      <a:r>
                        <a:rPr lang="en-US" sz="1000" dirty="0"/>
                        <a:t>Provides early warning for extreme weather events.</a:t>
                      </a:r>
                    </a:p>
                  </a:txBody>
                  <a:tcPr marL="50034" marR="50034" marT="25017" marB="25017" anchor="ctr">
                    <a:lnL>
                      <a:noFill/>
                    </a:lnL>
                    <a:lnR>
                      <a:noFill/>
                    </a:lnR>
                    <a:lnT>
                      <a:noFill/>
                    </a:lnT>
                    <a:lnB>
                      <a:noFill/>
                    </a:lnB>
                    <a:noFill/>
                  </a:tcPr>
                </a:tc>
                <a:extLst>
                  <a:ext uri="{0D108BD9-81ED-4DB2-BD59-A6C34878D82A}">
                    <a16:rowId xmlns:a16="http://schemas.microsoft.com/office/drawing/2014/main" val="3617264354"/>
                  </a:ext>
                </a:extLst>
              </a:tr>
            </a:tbl>
          </a:graphicData>
        </a:graphic>
      </p:graphicFrame>
      <p:sp>
        <p:nvSpPr>
          <p:cNvPr id="2" name="Title 1"/>
          <p:cNvSpPr>
            <a:spLocks noGrp="1"/>
          </p:cNvSpPr>
          <p:nvPr>
            <p:ph type="title"/>
          </p:nvPr>
        </p:nvSpPr>
        <p:spPr>
          <a:xfrm>
            <a:off x="838200" y="92291"/>
            <a:ext cx="10515600" cy="728803"/>
          </a:xfrm>
        </p:spPr>
        <p:txBody>
          <a:bodyPr/>
          <a:lstStyle/>
          <a:p>
            <a:pPr algn="ctr"/>
            <a:r>
              <a:rPr lang="en-US"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544947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eaLnBrk="0" fontAlgn="base" hangingPunct="0">
              <a:spcBef>
                <a:spcPct val="0"/>
              </a:spcBef>
              <a:spcAft>
                <a:spcPct val="0"/>
              </a:spcAft>
              <a:buClrTx/>
              <a:buSzTx/>
              <a:buNone/>
            </a:pPr>
            <a:r>
              <a:rPr lang="en-US" altLang="en-US" sz="2400" dirty="0">
                <a:latin typeface="Arial" panose="020B0604020202020204" pitchFamily="34" charset="0"/>
              </a:rPr>
              <a:t> </a:t>
            </a:r>
          </a:p>
          <a:p>
            <a:pPr marL="0" lvl="0" indent="0" algn="just" eaLnBrk="0" fontAlgn="base" hangingPunct="0">
              <a:spcBef>
                <a:spcPct val="0"/>
              </a:spcBef>
              <a:spcAft>
                <a:spcPct val="0"/>
              </a:spcAft>
              <a:buClrTx/>
              <a:buSzTx/>
              <a:buFontTx/>
              <a:buChar char="•"/>
            </a:pPr>
            <a:r>
              <a:rPr lang="en-US" altLang="en-US" sz="2400" b="1" dirty="0">
                <a:latin typeface="Arial" panose="020B0604020202020204" pitchFamily="34" charset="0"/>
              </a:rPr>
              <a:t>Low Accuracy</a:t>
            </a:r>
            <a:r>
              <a:rPr lang="en-US" altLang="en-US" sz="2400" dirty="0">
                <a:latin typeface="Arial" panose="020B0604020202020204" pitchFamily="34" charset="0"/>
              </a:rPr>
              <a:t> – Many ML models fail during extreme or sudden weather changes.</a:t>
            </a:r>
          </a:p>
          <a:p>
            <a:pPr marL="0" lvl="0" indent="0" algn="just" eaLnBrk="0" fontAlgn="base" hangingPunct="0">
              <a:spcBef>
                <a:spcPct val="0"/>
              </a:spcBef>
              <a:spcAft>
                <a:spcPct val="0"/>
              </a:spcAft>
              <a:buClrTx/>
              <a:buSzTx/>
              <a:buFontTx/>
              <a:buChar char="•"/>
            </a:pPr>
            <a:r>
              <a:rPr lang="en-US" altLang="en-US" sz="2400" b="1" dirty="0">
                <a:latin typeface="Arial" panose="020B0604020202020204" pitchFamily="34" charset="0"/>
              </a:rPr>
              <a:t>High Data Dependency</a:t>
            </a:r>
            <a:r>
              <a:rPr lang="en-US" altLang="en-US" sz="2400" dirty="0">
                <a:latin typeface="Arial" panose="020B0604020202020204" pitchFamily="34" charset="0"/>
              </a:rPr>
              <a:t> – Require large, high-quality historical datasets.</a:t>
            </a:r>
          </a:p>
          <a:p>
            <a:pPr marL="0" lvl="0" indent="0" algn="just" eaLnBrk="0" fontAlgn="base" hangingPunct="0">
              <a:spcBef>
                <a:spcPct val="0"/>
              </a:spcBef>
              <a:spcAft>
                <a:spcPct val="0"/>
              </a:spcAft>
              <a:buClrTx/>
              <a:buSzTx/>
              <a:buFontTx/>
              <a:buChar char="•"/>
            </a:pPr>
            <a:r>
              <a:rPr lang="en-US" altLang="en-US" sz="2400" b="1" dirty="0">
                <a:latin typeface="Arial" panose="020B0604020202020204" pitchFamily="34" charset="0"/>
              </a:rPr>
              <a:t>Limited Real-Time Processing</a:t>
            </a:r>
            <a:r>
              <a:rPr lang="en-US" altLang="en-US" sz="2400" dirty="0">
                <a:latin typeface="Arial" panose="020B0604020202020204" pitchFamily="34" charset="0"/>
              </a:rPr>
              <a:t> – Some systems cannot give instant alerts.</a:t>
            </a:r>
          </a:p>
          <a:p>
            <a:pPr marL="0" lvl="0" indent="0" algn="just" eaLnBrk="0" fontAlgn="base" hangingPunct="0">
              <a:spcBef>
                <a:spcPct val="0"/>
              </a:spcBef>
              <a:spcAft>
                <a:spcPct val="0"/>
              </a:spcAft>
              <a:buClrTx/>
              <a:buSzTx/>
              <a:buFontTx/>
              <a:buChar char="•"/>
            </a:pPr>
            <a:r>
              <a:rPr lang="en-US" altLang="en-US" sz="2400" b="1" dirty="0">
                <a:latin typeface="Arial" panose="020B0604020202020204" pitchFamily="34" charset="0"/>
              </a:rPr>
              <a:t>High Cost</a:t>
            </a:r>
            <a:r>
              <a:rPr lang="en-US" altLang="en-US" sz="2400" dirty="0">
                <a:latin typeface="Arial" panose="020B0604020202020204" pitchFamily="34" charset="0"/>
              </a:rPr>
              <a:t> – Satellite &amp; IoT infrastructure is expensive.</a:t>
            </a:r>
          </a:p>
          <a:p>
            <a:pPr marL="0" lvl="0" indent="0" algn="just" eaLnBrk="0" fontAlgn="base" hangingPunct="0">
              <a:spcBef>
                <a:spcPct val="0"/>
              </a:spcBef>
              <a:spcAft>
                <a:spcPct val="0"/>
              </a:spcAft>
              <a:buClrTx/>
              <a:buSzTx/>
              <a:buFontTx/>
              <a:buChar char="•"/>
            </a:pPr>
            <a:r>
              <a:rPr lang="en-US" altLang="en-US" sz="2400" b="1" dirty="0">
                <a:latin typeface="Arial" panose="020B0604020202020204" pitchFamily="34" charset="0"/>
              </a:rPr>
              <a:t>Complex Implementation</a:t>
            </a:r>
            <a:r>
              <a:rPr lang="en-US" altLang="en-US" sz="2400" dirty="0">
                <a:latin typeface="Arial" panose="020B0604020202020204" pitchFamily="34" charset="0"/>
              </a:rPr>
              <a:t> – Hybrid and deep learning models need high computational power.</a:t>
            </a:r>
          </a:p>
          <a:p>
            <a:pPr marL="0" lvl="0" indent="0" algn="just" eaLnBrk="0" fontAlgn="base" hangingPunct="0">
              <a:spcBef>
                <a:spcPct val="0"/>
              </a:spcBef>
              <a:spcAft>
                <a:spcPct val="0"/>
              </a:spcAft>
              <a:buClrTx/>
              <a:buSzTx/>
              <a:buFontTx/>
              <a:buChar char="•"/>
            </a:pPr>
            <a:r>
              <a:rPr lang="en-US" altLang="en-US" sz="2400" b="1" dirty="0">
                <a:latin typeface="Arial" panose="020B0604020202020204" pitchFamily="34" charset="0"/>
              </a:rPr>
              <a:t>Location-Specific</a:t>
            </a:r>
            <a:r>
              <a:rPr lang="en-US" altLang="en-US" sz="2400" dirty="0">
                <a:latin typeface="Arial" panose="020B0604020202020204" pitchFamily="34" charset="0"/>
              </a:rPr>
              <a:t> – Models trained for one region may not work well in other areas.</a:t>
            </a:r>
          </a:p>
          <a:p>
            <a:pPr marL="0" lvl="0" indent="0" algn="just" eaLnBrk="0" fontAlgn="base" hangingPunct="0">
              <a:spcBef>
                <a:spcPct val="0"/>
              </a:spcBef>
              <a:spcAft>
                <a:spcPct val="0"/>
              </a:spcAft>
              <a:buClrTx/>
              <a:buSzTx/>
              <a:buFontTx/>
              <a:buChar char="•"/>
            </a:pPr>
            <a:r>
              <a:rPr lang="en-US" altLang="en-US" sz="2400" b="1" dirty="0">
                <a:latin typeface="Arial" panose="020B0604020202020204" pitchFamily="34" charset="0"/>
              </a:rPr>
              <a:t>False Alarms</a:t>
            </a:r>
            <a:r>
              <a:rPr lang="en-US" altLang="en-US" sz="2400" dirty="0">
                <a:latin typeface="Arial" panose="020B0604020202020204" pitchFamily="34" charset="0"/>
              </a:rPr>
              <a:t> – Anomaly detection systems sometimes generate incorrect warnings.</a:t>
            </a:r>
          </a:p>
          <a:p>
            <a:pPr marL="342900" indent="-342900" algn="just"/>
            <a:endParaRPr lang="en-IN" sz="2400" b="1"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5FFA1BC-5100-EB75-32E4-3DD8581AFEC5}"/>
              </a:ext>
            </a:extLst>
          </p:cNvPr>
          <p:cNvSpPr>
            <a:spLocks noGrp="1"/>
          </p:cNvSpPr>
          <p:nvPr>
            <p:ph type="title"/>
          </p:nvPr>
        </p:nvSpPr>
        <p:spPr/>
        <p:txBody>
          <a:bodyPr>
            <a:normAutofit fontScale="90000"/>
          </a:bodyPr>
          <a:lstStyle/>
          <a:p>
            <a:r>
              <a:rPr lang="en-IN" sz="4400" dirty="0">
                <a:latin typeface="Times New Roman" panose="02020603050405020304" pitchFamily="18" charset="0"/>
                <a:cs typeface="Times New Roman" panose="02020603050405020304" pitchFamily="18" charset="0"/>
              </a:rPr>
              <a:t>Drawbacks of Existing Methods:</a:t>
            </a:r>
            <a:br>
              <a:rPr lang="en-IN" sz="4400"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943701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lgn="just">
              <a:buNone/>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Weather is becoming more unpredictable, and sudden cloud bursts are causing massive damage like floods and landslides. The main problem is that most current weather systems are either too expensive because they require IoT sensors or too complex because they use Machine Learning. This makes it hard for local authorities to have a simple, low-cost way to monitor risks in real-time. Also, raw weather data is often confusing, so there is a huge need for a system that can automatically detect anomalies and present them through clear alerts and visual reports.</a:t>
            </a:r>
            <a:endParaRPr lang="en-IN" sz="2800" dirty="0">
              <a:latin typeface="Times New Roman" panose="02020603050405020304" pitchFamily="18" charset="0"/>
              <a:cs typeface="Times New Roman" panose="02020603050405020304" pitchFamily="18" charset="0"/>
            </a:endParaRPr>
          </a:p>
          <a:p>
            <a:endParaRPr lang="en-IN" dirty="0"/>
          </a:p>
        </p:txBody>
      </p:sp>
      <p:sp>
        <p:nvSpPr>
          <p:cNvPr id="3" name="Title 2"/>
          <p:cNvSpPr>
            <a:spLocks noGrp="1"/>
          </p:cNvSpPr>
          <p:nvPr>
            <p:ph type="title"/>
          </p:nvPr>
        </p:nvSpPr>
        <p:spPr/>
        <p:txBody>
          <a:bodyPr/>
          <a:lstStyle/>
          <a:p>
            <a:pPr algn="ctr"/>
            <a:r>
              <a:rPr lang="en-US" dirty="0">
                <a:latin typeface="Times New Roman" pitchFamily="18" charset="0"/>
                <a:cs typeface="Times New Roman" pitchFamily="18" charset="0"/>
              </a:rPr>
              <a:t>Problem Statement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831365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Our proposed project is a data-driven system that uses Python and SQL to identify cloud bursts by comparing rainfall against specific thresholds. It features a smart web dashboard with color-coded alerts and automated reports to make weather monitoring simple and effective.</a:t>
            </a:r>
          </a:p>
          <a:p>
            <a:pPr algn="just"/>
            <a:r>
              <a:rPr lang="en-US" b="1" dirty="0">
                <a:latin typeface="Times New Roman" panose="02020603050405020304" pitchFamily="18" charset="0"/>
                <a:cs typeface="Times New Roman" panose="02020603050405020304" pitchFamily="18" charset="0"/>
              </a:rPr>
              <a:t>Logic-Based Detection:</a:t>
            </a:r>
            <a:r>
              <a:rPr lang="en-US" dirty="0">
                <a:latin typeface="Times New Roman" panose="02020603050405020304" pitchFamily="18" charset="0"/>
                <a:cs typeface="Times New Roman" panose="02020603050405020304" pitchFamily="18" charset="0"/>
              </a:rPr>
              <a:t> Uses rainfall thresholds and historical averages instead of ML or sensors.</a:t>
            </a:r>
          </a:p>
          <a:p>
            <a:pPr algn="just"/>
            <a:r>
              <a:rPr lang="en-US" b="1" dirty="0">
                <a:latin typeface="Times New Roman" panose="02020603050405020304" pitchFamily="18" charset="0"/>
                <a:cs typeface="Times New Roman" panose="02020603050405020304" pitchFamily="18" charset="0"/>
              </a:rPr>
              <a:t>Trend Visualization:</a:t>
            </a:r>
            <a:r>
              <a:rPr lang="en-US" dirty="0">
                <a:latin typeface="Times New Roman" panose="02020603050405020304" pitchFamily="18" charset="0"/>
                <a:cs typeface="Times New Roman" panose="02020603050405020304" pitchFamily="18" charset="0"/>
              </a:rPr>
              <a:t> Includes 7-day moving averages and district-wise heatmaps to track patterns.</a:t>
            </a:r>
          </a:p>
          <a:p>
            <a:pPr algn="just"/>
            <a:r>
              <a:rPr lang="en-US" b="1" dirty="0">
                <a:latin typeface="Times New Roman" panose="02020603050405020304" pitchFamily="18" charset="0"/>
                <a:cs typeface="Times New Roman" panose="02020603050405020304" pitchFamily="18" charset="0"/>
              </a:rPr>
              <a:t>Dynamic Dashboard:</a:t>
            </a:r>
            <a:r>
              <a:rPr lang="en-US" dirty="0">
                <a:latin typeface="Times New Roman" panose="02020603050405020304" pitchFamily="18" charset="0"/>
                <a:cs typeface="Times New Roman" panose="02020603050405020304" pitchFamily="18" charset="0"/>
              </a:rPr>
              <a:t> An HTML interface that changes color based on real-time alert levels.</a:t>
            </a:r>
          </a:p>
          <a:p>
            <a:pPr algn="just"/>
            <a:r>
              <a:rPr lang="en-US" b="1" dirty="0">
                <a:latin typeface="Times New Roman" panose="02020603050405020304" pitchFamily="18" charset="0"/>
                <a:cs typeface="Times New Roman" panose="02020603050405020304" pitchFamily="18" charset="0"/>
              </a:rPr>
              <a:t>Automated Reporting:</a:t>
            </a:r>
            <a:r>
              <a:rPr lang="en-US" dirty="0">
                <a:latin typeface="Times New Roman" panose="02020603050405020304" pitchFamily="18" charset="0"/>
                <a:cs typeface="Times New Roman" panose="02020603050405020304" pitchFamily="18" charset="0"/>
              </a:rPr>
              <a:t> Generates daily PDF summaries with risk indexes and anomaly data.</a:t>
            </a:r>
          </a:p>
          <a:p>
            <a:pPr algn="just"/>
            <a:r>
              <a:rPr lang="en-US" b="1" dirty="0">
                <a:latin typeface="Times New Roman" panose="02020603050405020304" pitchFamily="18" charset="0"/>
                <a:cs typeface="Times New Roman" panose="02020603050405020304" pitchFamily="18" charset="0"/>
              </a:rPr>
              <a:t>Risk Zoning:</a:t>
            </a:r>
            <a:r>
              <a:rPr lang="en-US" dirty="0">
                <a:latin typeface="Times New Roman" panose="02020603050405020304" pitchFamily="18" charset="0"/>
                <a:cs typeface="Times New Roman" panose="02020603050405020304" pitchFamily="18" charset="0"/>
              </a:rPr>
              <a:t> Uses static maps to highlight areas most prone to extreme weather</a:t>
            </a:r>
            <a:r>
              <a:rPr lang="en-US" dirty="0"/>
              <a:t>.</a:t>
            </a:r>
          </a:p>
          <a:p>
            <a:endParaRPr lang="en-IN" b="1" dirty="0">
              <a:latin typeface="Times New Roman" pitchFamily="18" charset="0"/>
              <a:cs typeface="Times New Roman" pitchFamily="18" charset="0"/>
            </a:endParaRPr>
          </a:p>
        </p:txBody>
      </p:sp>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Proposed System</a:t>
            </a:r>
            <a:endParaRPr lang="en-IN" dirty="0"/>
          </a:p>
        </p:txBody>
      </p:sp>
    </p:spTree>
    <p:extLst>
      <p:ext uri="{BB962C8B-B14F-4D97-AF65-F5344CB8AC3E}">
        <p14:creationId xmlns:p14="http://schemas.microsoft.com/office/powerpoint/2010/main" val="251654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7607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System Architecture</a:t>
            </a:r>
            <a:endParaRPr lang="en-IN" dirty="0"/>
          </a:p>
        </p:txBody>
      </p:sp>
      <p:sp>
        <p:nvSpPr>
          <p:cNvPr id="7" name="Content Placeholder 6">
            <a:extLst>
              <a:ext uri="{FF2B5EF4-FFF2-40B4-BE49-F238E27FC236}">
                <a16:creationId xmlns:a16="http://schemas.microsoft.com/office/drawing/2014/main" id="{30227E2F-9864-E394-BC92-224158D3308F}"/>
              </a:ext>
            </a:extLst>
          </p:cNvPr>
          <p:cNvSpPr>
            <a:spLocks noGrp="1"/>
          </p:cNvSpPr>
          <p:nvPr>
            <p:ph idx="1"/>
          </p:nvPr>
        </p:nvSpPr>
        <p:spPr>
          <a:xfrm>
            <a:off x="609600" y="998377"/>
            <a:ext cx="10972800" cy="5008916"/>
          </a:xfrm>
        </p:spPr>
        <p:txBody>
          <a:bodyPr/>
          <a:lstStyle/>
          <a:p>
            <a:pPr marL="109728" indent="0">
              <a:buNone/>
            </a:pPr>
            <a:endParaRPr lang="en-US" sz="1600" dirty="0"/>
          </a:p>
          <a:p>
            <a:endParaRPr lang="en-IN" dirty="0"/>
          </a:p>
        </p:txBody>
      </p:sp>
      <p:pic>
        <p:nvPicPr>
          <p:cNvPr id="6" name="Picture 5">
            <a:extLst>
              <a:ext uri="{FF2B5EF4-FFF2-40B4-BE49-F238E27FC236}">
                <a16:creationId xmlns:a16="http://schemas.microsoft.com/office/drawing/2014/main" id="{42020883-6453-5171-7549-A37A7E08B4D9}"/>
              </a:ext>
            </a:extLst>
          </p:cNvPr>
          <p:cNvPicPr>
            <a:picLocks noChangeAspect="1"/>
          </p:cNvPicPr>
          <p:nvPr/>
        </p:nvPicPr>
        <p:blipFill>
          <a:blip r:embed="rId2">
            <a:extLst>
              <a:ext uri="{28A0092B-C50C-407E-A947-70E740481C1C}">
                <a14:useLocalDpi xmlns:a14="http://schemas.microsoft.com/office/drawing/2010/main" val="0"/>
              </a:ext>
            </a:extLst>
          </a:blip>
          <a:srcRect l="11143" r="17613" b="25266"/>
          <a:stretch>
            <a:fillRect/>
          </a:stretch>
        </p:blipFill>
        <p:spPr>
          <a:xfrm>
            <a:off x="1558212" y="998377"/>
            <a:ext cx="9494391" cy="5234471"/>
          </a:xfrm>
          <a:prstGeom prst="rect">
            <a:avLst/>
          </a:prstGeom>
        </p:spPr>
      </p:pic>
    </p:spTree>
    <p:extLst>
      <p:ext uri="{BB962C8B-B14F-4D97-AF65-F5344CB8AC3E}">
        <p14:creationId xmlns:p14="http://schemas.microsoft.com/office/powerpoint/2010/main" val="4180336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 Trend &amp; Rainfall Analysis</a:t>
            </a:r>
          </a:p>
          <a:p>
            <a:r>
              <a:rPr lang="en-IN" dirty="0"/>
              <a:t> Cloudburst &amp; Anomaly Detection</a:t>
            </a:r>
          </a:p>
          <a:p>
            <a:r>
              <a:rPr lang="en-IN" dirty="0"/>
              <a:t> Dynamic Alert System</a:t>
            </a:r>
          </a:p>
          <a:p>
            <a:r>
              <a:rPr lang="en-IN" dirty="0"/>
              <a:t> Heat Map &amp; Risk Zoning</a:t>
            </a:r>
          </a:p>
          <a:p>
            <a:r>
              <a:rPr lang="en-IN" dirty="0"/>
              <a:t>Automatic PDF Report Generation</a:t>
            </a:r>
          </a:p>
        </p:txBody>
      </p:sp>
      <p:sp>
        <p:nvSpPr>
          <p:cNvPr id="3" name="Title 2"/>
          <p:cNvSpPr>
            <a:spLocks noGrp="1"/>
          </p:cNvSpPr>
          <p:nvPr>
            <p:ph type="title"/>
          </p:nvPr>
        </p:nvSpPr>
        <p:spPr/>
        <p:txBody>
          <a:bodyPr/>
          <a:lstStyle/>
          <a:p>
            <a:pPr algn="ctr"/>
            <a:r>
              <a:rPr lang="en-US" dirty="0"/>
              <a:t>List of Modules/Features</a:t>
            </a:r>
            <a:endParaRPr lang="en-IN" dirty="0"/>
          </a:p>
        </p:txBody>
      </p:sp>
    </p:spTree>
    <p:extLst>
      <p:ext uri="{BB962C8B-B14F-4D97-AF65-F5344CB8AC3E}">
        <p14:creationId xmlns:p14="http://schemas.microsoft.com/office/powerpoint/2010/main" val="259523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481329"/>
            <a:ext cx="11305592" cy="4525963"/>
          </a:xfrm>
        </p:spPr>
        <p:txBody>
          <a:bodyPr>
            <a:normAutofit/>
          </a:bodyPr>
          <a:lstStyle/>
          <a:p>
            <a:pPr marL="109728" indent="0" algn="just">
              <a:buNone/>
            </a:pPr>
            <a:r>
              <a:rPr lang="en-US" sz="2400" b="1" dirty="0">
                <a:latin typeface="Times New Roman" pitchFamily="18" charset="0"/>
                <a:cs typeface="Times New Roman" pitchFamily="18" charset="0"/>
              </a:rPr>
              <a:t>Software Requirements:</a:t>
            </a:r>
          </a:p>
          <a:p>
            <a:pPr algn="just"/>
            <a:r>
              <a:rPr lang="en-IN" sz="2400" dirty="0">
                <a:latin typeface="Times New Roman" panose="02020603050405020304" pitchFamily="18" charset="0"/>
                <a:cs typeface="Times New Roman" panose="02020603050405020304" pitchFamily="18" charset="0"/>
              </a:rPr>
              <a:t>Programming Languages : Python, HTML &amp;CSS </a:t>
            </a:r>
          </a:p>
          <a:p>
            <a:pPr algn="just"/>
            <a:r>
              <a:rPr lang="en-IN" sz="2400" dirty="0">
                <a:latin typeface="Times New Roman" panose="02020603050405020304" pitchFamily="18" charset="0"/>
                <a:cs typeface="Times New Roman" panose="02020603050405020304" pitchFamily="18" charset="0"/>
              </a:rPr>
              <a:t>Database Management : MySQL/ SQL </a:t>
            </a:r>
          </a:p>
          <a:p>
            <a:pPr algn="just"/>
            <a:r>
              <a:rPr lang="en-IN" sz="2400" dirty="0">
                <a:latin typeface="Times New Roman" panose="02020603050405020304" pitchFamily="18" charset="0"/>
                <a:cs typeface="Times New Roman" panose="02020603050405020304" pitchFamily="18" charset="0"/>
              </a:rPr>
              <a:t>Development Tools (IDEs) : </a:t>
            </a:r>
            <a:r>
              <a:rPr lang="en-IN" sz="2400" dirty="0" err="1">
                <a:latin typeface="Times New Roman" panose="02020603050405020304" pitchFamily="18" charset="0"/>
                <a:cs typeface="Times New Roman" panose="02020603050405020304" pitchFamily="18" charset="0"/>
              </a:rPr>
              <a:t>VSCode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a:t>
            </a:r>
            <a:endParaRPr lang="en-US" sz="2400" b="1" dirty="0">
              <a:latin typeface="Times New Roman" pitchFamily="18" charset="0"/>
              <a:cs typeface="Times New Roman" pitchFamily="18" charset="0"/>
            </a:endParaRPr>
          </a:p>
          <a:p>
            <a:pPr marL="109728" indent="0" algn="just">
              <a:buNone/>
            </a:pPr>
            <a:r>
              <a:rPr lang="en-US" sz="2400" b="1" dirty="0">
                <a:latin typeface="Times New Roman" pitchFamily="18" charset="0"/>
                <a:cs typeface="Times New Roman" pitchFamily="18" charset="0"/>
              </a:rPr>
              <a:t>Hardware Requirements:</a:t>
            </a:r>
          </a:p>
          <a:p>
            <a:pPr algn="just"/>
            <a:r>
              <a:rPr lang="en-IN" sz="2400" b="1" dirty="0">
                <a:latin typeface="Times New Roman" pitchFamily="18" charset="0"/>
                <a:cs typeface="Times New Roman" pitchFamily="18" charset="0"/>
              </a:rPr>
              <a:t>Processor:</a:t>
            </a:r>
            <a:r>
              <a:rPr lang="en-IN" sz="2400" dirty="0">
                <a:latin typeface="Times New Roman" panose="02020603050405020304" pitchFamily="18" charset="0"/>
                <a:cs typeface="Times New Roman" panose="02020603050405020304" pitchFamily="18" charset="0"/>
              </a:rPr>
              <a:t> Intel i5 or equivalent AMD processor (Fast enough to run our Python logic and SQL queries).</a:t>
            </a:r>
          </a:p>
          <a:p>
            <a:pPr algn="just"/>
            <a:r>
              <a:rPr lang="en-IN" sz="2400" b="1" dirty="0">
                <a:latin typeface="Times New Roman" pitchFamily="18" charset="0"/>
                <a:cs typeface="Times New Roman" pitchFamily="18" charset="0"/>
              </a:rPr>
              <a:t>RAM:</a:t>
            </a:r>
            <a:r>
              <a:rPr lang="en-IN" sz="2400" dirty="0">
                <a:latin typeface="Times New Roman" panose="02020603050405020304" pitchFamily="18" charset="0"/>
                <a:cs typeface="Times New Roman" panose="02020603050405020304" pitchFamily="18" charset="0"/>
              </a:rPr>
              <a:t> 4 GB Minimum (To handle data visualization and the web dashboard smoothly).</a:t>
            </a:r>
          </a:p>
          <a:p>
            <a:pPr algn="just"/>
            <a:r>
              <a:rPr lang="en-IN" sz="2400" b="1" dirty="0">
                <a:latin typeface="Times New Roman" pitchFamily="18" charset="0"/>
                <a:cs typeface="Times New Roman" pitchFamily="18" charset="0"/>
              </a:rPr>
              <a:t>Storage:</a:t>
            </a:r>
            <a:r>
              <a:rPr lang="en-IN" sz="2400" dirty="0">
                <a:latin typeface="Times New Roman" panose="02020603050405020304" pitchFamily="18" charset="0"/>
                <a:cs typeface="Times New Roman" panose="02020603050405020304" pitchFamily="18" charset="0"/>
              </a:rPr>
              <a:t> 256 GB  (To store our SQL database and the generated PDF reports).</a:t>
            </a:r>
          </a:p>
          <a:p>
            <a:pPr algn="just"/>
            <a:r>
              <a:rPr lang="en-IN" sz="2400" b="1" dirty="0">
                <a:latin typeface="Times New Roman" pitchFamily="18" charset="0"/>
                <a:cs typeface="Times New Roman" pitchFamily="18" charset="0"/>
              </a:rPr>
              <a:t>Operating System:</a:t>
            </a:r>
            <a:r>
              <a:rPr lang="en-IN" sz="2400" dirty="0">
                <a:latin typeface="Times New Roman" panose="02020603050405020304" pitchFamily="18" charset="0"/>
                <a:cs typeface="Times New Roman" panose="02020603050405020304" pitchFamily="18" charset="0"/>
              </a:rPr>
              <a:t> Windows 10/11 or Linux.</a:t>
            </a:r>
          </a:p>
          <a:p>
            <a:pPr marL="109728" indent="0">
              <a:buNone/>
            </a:pPr>
            <a:endParaRPr lang="en-IN" sz="2400" b="1" dirty="0">
              <a:latin typeface="Times New Roman" pitchFamily="18" charset="0"/>
              <a:cs typeface="Times New Roman" pitchFamily="18" charset="0"/>
            </a:endParaRPr>
          </a:p>
        </p:txBody>
      </p:sp>
      <p:sp>
        <p:nvSpPr>
          <p:cNvPr id="3" name="Title 2"/>
          <p:cNvSpPr>
            <a:spLocks noGrp="1"/>
          </p:cNvSpPr>
          <p:nvPr>
            <p:ph type="title"/>
          </p:nvPr>
        </p:nvSpPr>
        <p:spPr/>
        <p:txBody>
          <a:bodyPr/>
          <a:lstStyle/>
          <a:p>
            <a:pPr algn="ctr"/>
            <a:r>
              <a:rPr lang="en-US" dirty="0">
                <a:latin typeface="Times New Roman" pitchFamily="18" charset="0"/>
                <a:cs typeface="Times New Roman" pitchFamily="18" charset="0"/>
              </a:rPr>
              <a:t>Technology Stack</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679505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t>Use-Case Diagram</a:t>
            </a:r>
            <a:endParaRPr lang="en-IN" dirty="0"/>
          </a:p>
        </p:txBody>
      </p:sp>
      <p:pic>
        <p:nvPicPr>
          <p:cNvPr id="7" name="Content Placeholder 6">
            <a:extLst>
              <a:ext uri="{FF2B5EF4-FFF2-40B4-BE49-F238E27FC236}">
                <a16:creationId xmlns:a16="http://schemas.microsoft.com/office/drawing/2014/main" id="{B4496580-EE10-19EE-95D4-D6EF8C8FFE7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482" t="4268" r="4991"/>
          <a:stretch>
            <a:fillRect/>
          </a:stretch>
        </p:blipFill>
        <p:spPr>
          <a:xfrm>
            <a:off x="1668624" y="1248527"/>
            <a:ext cx="8492413" cy="5334835"/>
          </a:xfrm>
        </p:spPr>
      </p:pic>
    </p:spTree>
    <p:extLst>
      <p:ext uri="{BB962C8B-B14F-4D97-AF65-F5344CB8AC3E}">
        <p14:creationId xmlns:p14="http://schemas.microsoft.com/office/powerpoint/2010/main" val="2342762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t>Data Flow Diagram</a:t>
            </a:r>
            <a:endParaRPr lang="en-IN" dirty="0"/>
          </a:p>
        </p:txBody>
      </p:sp>
      <p:pic>
        <p:nvPicPr>
          <p:cNvPr id="7" name="Content Placeholder 6">
            <a:extLst>
              <a:ext uri="{FF2B5EF4-FFF2-40B4-BE49-F238E27FC236}">
                <a16:creationId xmlns:a16="http://schemas.microsoft.com/office/drawing/2014/main" id="{EF40BE85-0443-B700-22A2-0CB5BF03CF2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2717" b="11083"/>
          <a:stretch>
            <a:fillRect/>
          </a:stretch>
        </p:blipFill>
        <p:spPr>
          <a:xfrm>
            <a:off x="1474236" y="1485303"/>
            <a:ext cx="8725361" cy="4616918"/>
          </a:xfrm>
        </p:spPr>
      </p:pic>
    </p:spTree>
    <p:extLst>
      <p:ext uri="{BB962C8B-B14F-4D97-AF65-F5344CB8AC3E}">
        <p14:creationId xmlns:p14="http://schemas.microsoft.com/office/powerpoint/2010/main" val="3542927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09600" y="718457"/>
            <a:ext cx="10972800" cy="5971592"/>
          </a:xfrm>
        </p:spPr>
        <p:txBody>
          <a:bodyPr/>
          <a:lstStyle/>
          <a:p>
            <a:pPr algn="just"/>
            <a:r>
              <a:rPr lang="en-IN" dirty="0"/>
              <a:t>PDF generation for Python</a:t>
            </a:r>
          </a:p>
          <a:p>
            <a:pPr marL="109728" indent="0" algn="just">
              <a:buNone/>
            </a:pPr>
            <a:r>
              <a:rPr lang="en-IN" dirty="0" err="1">
                <a:hlinkClick r:id="rId2"/>
              </a:rPr>
              <a:t>fpdf</a:t>
            </a:r>
            <a:r>
              <a:rPr lang="en-IN" dirty="0">
                <a:hlinkClick r:id="rId2"/>
              </a:rPr>
              <a:t> · </a:t>
            </a:r>
            <a:r>
              <a:rPr lang="en-IN" dirty="0" err="1">
                <a:hlinkClick r:id="rId2"/>
              </a:rPr>
              <a:t>PyPI</a:t>
            </a:r>
            <a:endParaRPr lang="en-IN" dirty="0"/>
          </a:p>
          <a:p>
            <a:pPr algn="just"/>
            <a:r>
              <a:rPr lang="en-US" dirty="0"/>
              <a:t>MySQL Documentation – Oracle Corporation.</a:t>
            </a:r>
          </a:p>
          <a:p>
            <a:pPr algn="just"/>
            <a:r>
              <a:rPr lang="en-IN" dirty="0"/>
              <a:t>Cloudburst-disaster modelling</a:t>
            </a:r>
          </a:p>
          <a:p>
            <a:pPr marL="109728" indent="0" algn="just">
              <a:buNone/>
            </a:pPr>
            <a:r>
              <a:rPr lang="en-US" dirty="0">
                <a:hlinkClick r:id="rId3"/>
              </a:rPr>
              <a:t>Cloudburst-disaster modelling. A new open-source catastrophe model – ScienceDirect</a:t>
            </a:r>
            <a:endParaRPr lang="en-US" dirty="0"/>
          </a:p>
          <a:p>
            <a:pPr algn="just"/>
            <a:r>
              <a:rPr lang="en-US" dirty="0"/>
              <a:t>Flask</a:t>
            </a:r>
          </a:p>
          <a:p>
            <a:pPr marL="109728" indent="0" algn="just">
              <a:buNone/>
            </a:pPr>
            <a:r>
              <a:rPr lang="en-US" dirty="0">
                <a:hlinkClick r:id="rId4"/>
              </a:rPr>
              <a:t>Welcome to Flask — Flask Documentation (3.1.x)</a:t>
            </a:r>
            <a:endParaRPr lang="en-IN" dirty="0"/>
          </a:p>
          <a:p>
            <a:pPr algn="just"/>
            <a:endParaRPr lang="en-US" dirty="0"/>
          </a:p>
          <a:p>
            <a:pPr algn="just"/>
            <a:endParaRPr lang="en-IN" dirty="0"/>
          </a:p>
        </p:txBody>
      </p:sp>
      <p:sp>
        <p:nvSpPr>
          <p:cNvPr id="2" name="Title 1"/>
          <p:cNvSpPr>
            <a:spLocks noGrp="1"/>
          </p:cNvSpPr>
          <p:nvPr>
            <p:ph type="title"/>
          </p:nvPr>
        </p:nvSpPr>
        <p:spPr>
          <a:xfrm>
            <a:off x="609600" y="0"/>
            <a:ext cx="10972800" cy="718457"/>
          </a:xfrm>
        </p:spPr>
        <p:txBody>
          <a:bodyPr>
            <a:normAutofit/>
          </a:bodyPr>
          <a:lstStyle/>
          <a:p>
            <a:pPr algn="ctr"/>
            <a:r>
              <a:rPr lang="en-US"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307174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lgn="ctr">
              <a:buNone/>
            </a:pPr>
            <a:endParaRPr lang="en-US" sz="5400" b="1" dirty="0"/>
          </a:p>
          <a:p>
            <a:pPr marL="109728" indent="0" algn="ctr">
              <a:buNone/>
            </a:pPr>
            <a:r>
              <a:rPr lang="en-US" sz="5400" b="1" dirty="0"/>
              <a:t>Thank You</a:t>
            </a:r>
            <a:endParaRPr lang="en-IN" sz="5400" b="1" dirty="0"/>
          </a:p>
        </p:txBody>
      </p:sp>
    </p:spTree>
    <p:extLst>
      <p:ext uri="{BB962C8B-B14F-4D97-AF65-F5344CB8AC3E}">
        <p14:creationId xmlns:p14="http://schemas.microsoft.com/office/powerpoint/2010/main" val="41595213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757</TotalTime>
  <Words>1005</Words>
  <Application>Microsoft Office PowerPoint</Application>
  <PresentationFormat>Widescreen</PresentationFormat>
  <Paragraphs>109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CG Omega</vt:lpstr>
      <vt:lpstr>Lucida Sans Unicode</vt:lpstr>
      <vt:lpstr>Times New Roman</vt:lpstr>
      <vt:lpstr>Trebuchet MS</vt:lpstr>
      <vt:lpstr>Verdana</vt:lpstr>
      <vt:lpstr>Wingdings 2</vt:lpstr>
      <vt:lpstr>Wingdings 3</vt:lpstr>
      <vt:lpstr>Concourse</vt:lpstr>
      <vt:lpstr>CVR COLLEGE OF ENGINEERING (An Autonomous Institution, NAAC Accredited and Affiliated to JNTU, Hyderabad) Vastunagar, Mangalpalli (V), Ibrahimpatnam (M), Rangareddy (D), Telangana- 501 510  DEPARTMENT OF CSE (DATA SCIENCE)  B.Tech II Year II Semester   Real-Time/Field - Based Research Project Review - I</vt:lpstr>
      <vt:lpstr>  CLOUD BURST IDENTIFICATION  AND WEATHER ANOMALY ANALYSIS</vt:lpstr>
      <vt:lpstr>Abstract</vt:lpstr>
      <vt:lpstr>Introduction</vt:lpstr>
      <vt:lpstr>Literature Survey</vt:lpstr>
      <vt:lpstr>Drawbacks of Existing Methods: </vt:lpstr>
      <vt:lpstr>Problem Statement</vt:lpstr>
      <vt:lpstr>Proposed System</vt:lpstr>
      <vt:lpstr>System Architecture</vt:lpstr>
      <vt:lpstr>List of Modules/Features</vt:lpstr>
      <vt:lpstr>Technology Stack</vt:lpstr>
      <vt:lpstr>Use-Case Diagram</vt:lpstr>
      <vt:lpstr>Data Flow Diagram</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Review-1</dc:title>
  <dc:creator>M Varaprasd Rao</dc:creator>
  <cp:lastModifiedBy>Sri Harini</cp:lastModifiedBy>
  <cp:revision>50</cp:revision>
  <dcterms:created xsi:type="dcterms:W3CDTF">2024-07-18T04:46:24Z</dcterms:created>
  <dcterms:modified xsi:type="dcterms:W3CDTF">2026-02-26T09:58:16Z</dcterms:modified>
</cp:coreProperties>
</file>